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underwriter time</c:v>
                </c:pt>
              </c:strCache>
            </c:strRef>
          </c:tx>
          <c:spPr>
            <a:solidFill>
              <a:srgbClr val="2E8B7A"/>
            </a:solidFill>
            <a:effectLst/>
          </c:spPr>
          <c:invertIfNegative val="0"/>
          <c:dLbls>
            <c:numFmt formatCode="0&quot;%&quot;" sourceLinked="0"/>
            <c:txPr>
              <a:bodyPr/>
              <a:lstStyle/>
              <a:p>
                <a:pPr>
                  <a:defRPr b="0" i="0" strike="noStrike" sz="1000" u="none">
                    <a:solidFill>
                      <a:srgbClr val="2B2B2B"/>
                    </a:solidFill>
                    <a:latin typeface="Arial"/>
                  </a:defRPr>
                </a:pPr>
              </a:p>
            </c:txPr>
            <c:showLegendKey val="0"/>
            <c:showVal val="1"/>
            <c:showCatName val="0"/>
            <c:showSerName val="0"/>
            <c:showPercent val="0"/>
            <c:showBubbleSize val="0"/>
            <c:showLeaderLines val="0"/>
          </c:dLbls>
          <c:dPt>
            <c:idx val="0"/>
            <c:invertIfNegative val="0"/>
            <c:bubble3D val="0"/>
            <c:spPr>
              <a:solidFill>
                <a:srgbClr val="2E8B7A"/>
              </a:solidFill>
              <a:effectLst/>
            </c:spPr>
          </c:dPt>
          <c:dPt>
            <c:idx val="1"/>
            <c:invertIfNegative val="0"/>
            <c:bubble3D val="0"/>
            <c:spPr>
              <a:solidFill>
                <a:srgbClr val="2E8B7A"/>
              </a:solidFill>
              <a:effectLst/>
            </c:spPr>
          </c:dPt>
          <c:dPt>
            <c:idx val="2"/>
            <c:invertIfNegative val="0"/>
            <c:bubble3D val="0"/>
            <c:spPr>
              <a:solidFill>
                <a:srgbClr val="2E8B7A"/>
              </a:solidFill>
              <a:effectLst/>
            </c:spPr>
          </c:dPt>
          <c:dPt>
            <c:idx val="3"/>
            <c:invertIfNegative val="0"/>
            <c:bubble3D val="0"/>
            <c:spPr>
              <a:solidFill>
                <a:srgbClr val="B87333"/>
              </a:solidFill>
              <a:effectLst/>
            </c:spPr>
          </c:dPt>
          <c:dPt>
            <c:idx val="4"/>
            <c:invertIfNegative val="0"/>
            <c:bubble3D val="0"/>
            <c:spPr>
              <a:solidFill>
                <a:srgbClr val="B87333"/>
              </a:solidFill>
              <a:effectLst/>
            </c:spPr>
          </c:dPt>
          <c:cat>
            <c:multiLvlStrRef>
              <c:f>Sheet1!$A$2:$A$6</c:f>
              <c:multiLvlStrCache>
                <c:ptCount val="5"/>
                <c:lvl>
                  <c:pt idx="0">
                    <c:v>Reading documents</c:v>
                  </c:pt>
                  <c:pt idx="1">
                    <c:v>Chasing valuers, surveyors, solicitors</c:v>
                  </c:pt>
                  <c:pt idx="2">
                    <c:v>Reconciling valuer vs surveyor vs borrower</c:v>
                  </c:pt>
                  <c:pt idx="3">
                    <c:v>Writing the credit paper</c:v>
                  </c:pt>
                  <c:pt idx="4">
                    <c:v>Deciding</c:v>
                  </c:pt>
                </c:lvl>
              </c:multiLvlStrCache>
            </c:multiLvlStrRef>
          </c:cat>
          <c:val>
            <c:numRef>
              <c:f>Sheet1!$B$2:$B$6</c:f>
              <c:numCache>
                <c:formatCode>General</c:formatCode>
                <c:ptCount val="5"/>
                <c:pt idx="0">
                  <c:v>35</c:v>
                </c:pt>
                <c:pt idx="1">
                  <c:v>25</c:v>
                </c:pt>
                <c:pt idx="2">
                  <c:v>20</c:v>
                </c:pt>
                <c:pt idx="3">
                  <c:v>10</c:v>
                </c:pt>
                <c:pt idx="4">
                  <c:v>10</c:v>
                </c:pt>
              </c:numCache>
            </c:numRef>
          </c:val>
        </c:ser>
        <c:dLbls>
          <c:numFmt formatCode="0&quot;%&quot;" sourceLinked="0"/>
          <c:txPr>
            <a:bodyPr/>
            <a:lstStyle/>
            <a:p>
              <a:pPr>
                <a:defRPr b="0" i="0" strike="noStrike" sz="10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max val="4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Northgate (traditional)</c:v>
                </c:pt>
              </c:strCache>
            </c:strRef>
          </c:tx>
          <c:spPr>
            <a:solidFill>
              <a:srgbClr val="9FBFB8"/>
            </a:solidFill>
            <a:effectLst/>
          </c:spPr>
          <c:invertIfNegative val="0"/>
          <c:dLbls>
            <c:numFmt formatCode="#,##0.0#" sourceLinked="0"/>
            <c:txPr>
              <a:bodyPr/>
              <a:lstStyle/>
              <a:p>
                <a:pPr>
                  <a:defRPr b="0" i="0" strike="noStrike" sz="1000" u="none">
                    <a:solidFill>
                      <a:srgbClr val="2B2B2B"/>
                    </a:solidFill>
                    <a:latin typeface="Arial"/>
                  </a:defRPr>
                </a:pPr>
              </a:p>
            </c:txPr>
            <c:showLegendKey val="0"/>
            <c:showVal val="1"/>
            <c:showCatName val="0"/>
            <c:showSerName val="0"/>
            <c:showPercent val="0"/>
            <c:showBubbleSize val="0"/>
            <c:showLeaderLines val="0"/>
          </c:dLbls>
          <c:cat>
            <c:multiLvlStrRef>
              <c:f>Sheet1!$A$2:$A$4</c:f>
              <c:multiLvlStrCache>
                <c:ptCount val="3"/>
                <c:lvl>
                  <c:pt idx="0">
                    <c:v>Headcount</c:v>
                  </c:pt>
                  <c:pt idx="1">
                    <c:v>Operating cost £m</c:v>
                  </c:pt>
                  <c:pt idx="2">
                    <c:v>Operating profit £m</c:v>
                  </c:pt>
                </c:lvl>
              </c:multiLvlStrCache>
            </c:multiLvlStrRef>
          </c:cat>
          <c:val>
            <c:numRef>
              <c:f>Sheet1!$B$2:$B$4</c:f>
              <c:numCache>
                <c:formatCode>General</c:formatCode>
                <c:ptCount val="3"/>
                <c:pt idx="0">
                  <c:v>37</c:v>
                </c:pt>
                <c:pt idx="1">
                  <c:v>4.14</c:v>
                </c:pt>
                <c:pt idx="2">
                  <c:v>0.68</c:v>
                </c:pt>
              </c:numCache>
            </c:numRef>
          </c:val>
        </c:ser>
        <c:ser>
          <c:idx val="1"/>
          <c:order val="1"/>
          <c:tx>
            <c:strRef>
              <c:f>Sheet1!$C$1</c:f>
              <c:strCache>
                <c:ptCount val="1"/>
                <c:pt idx="0">
                  <c:v>Verdigris (AI-native)</c:v>
                </c:pt>
              </c:strCache>
            </c:strRef>
          </c:tx>
          <c:spPr>
            <a:solidFill>
              <a:srgbClr val="2E8B7A"/>
            </a:solidFill>
            <a:effectLst/>
          </c:spPr>
          <c:invertIfNegative val="0"/>
          <c:dLbls>
            <c:numFmt formatCode="#,##0.0#" sourceLinked="0"/>
            <c:txPr>
              <a:bodyPr/>
              <a:lstStyle/>
              <a:p>
                <a:pPr>
                  <a:defRPr b="0" i="0" strike="noStrike" sz="1000" u="none">
                    <a:solidFill>
                      <a:srgbClr val="2B2B2B"/>
                    </a:solidFill>
                    <a:latin typeface="Arial"/>
                  </a:defRPr>
                </a:pPr>
              </a:p>
            </c:txPr>
            <c:showLegendKey val="0"/>
            <c:showVal val="1"/>
            <c:showCatName val="0"/>
            <c:showSerName val="0"/>
            <c:showPercent val="0"/>
            <c:showBubbleSize val="0"/>
            <c:showLeaderLines val="0"/>
          </c:dLbls>
          <c:cat>
            <c:multiLvlStrRef>
              <c:f>Sheet1!$A$2:$A$4</c:f>
              <c:multiLvlStrCache>
                <c:ptCount val="3"/>
                <c:lvl>
                  <c:pt idx="0">
                    <c:v>Headcount</c:v>
                  </c:pt>
                  <c:pt idx="1">
                    <c:v>Operating cost £m</c:v>
                  </c:pt>
                  <c:pt idx="2">
                    <c:v>Operating profit £m</c:v>
                  </c:pt>
                </c:lvl>
              </c:multiLvlStrCache>
            </c:multiLvlStrRef>
          </c:cat>
          <c:val>
            <c:numRef>
              <c:f>Sheet1!$C$2:$C$4</c:f>
              <c:numCache>
                <c:formatCode>General</c:formatCode>
                <c:ptCount val="3"/>
                <c:pt idx="0">
                  <c:v>8</c:v>
                </c:pt>
                <c:pt idx="1">
                  <c:v>1.01</c:v>
                </c:pt>
                <c:pt idx="2">
                  <c:v>3.82</c:v>
                </c:pt>
              </c:numCache>
            </c:numRef>
          </c:val>
        </c:ser>
        <c:dLbls>
          <c:numFmt formatCode="#,##0.0#" sourceLinked="0"/>
          <c:txPr>
            <a:bodyPr/>
            <a:lstStyle/>
            <a:p>
              <a:pPr>
                <a:defRPr b="0" i="0" strike="noStrike" sz="10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B2B2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Arial"/>
              </a:defRPr>
            </a:pPr>
            <a:r>
              <a:rPr sz="1200" b="0" i="0" u="none" strike="noStrike">
                <a:solidFill>
                  <a:srgbClr val="2B2B2B"/>
                </a:solidFill>
                <a:latin typeface="Arial"/>
              </a:rPr>
              <a:t>People needed</a:t>
            </a:r>
          </a:p>
        </c:rich>
      </c:tx>
      <c:layout/>
      <c:overlay val="0"/>
    </c:title>
    <c:autoTitleDeleted val="0"/>
    <c:plotArea>
      <c:layout/>
      <c:lineChart>
        <c:varyColors val="0"/>
        <c:ser>
          <c:idx val="0"/>
          <c:order val="0"/>
          <c:tx>
            <c:strRef>
              <c:f>Sheet1!$B$1</c:f>
              <c:strCache>
                <c:ptCount val="1"/>
                <c:pt idx="0">
                  <c:v>Northgate headcount</c:v>
                </c:pt>
              </c:strCache>
            </c:strRef>
          </c:tx>
          <c:spPr>
            <a:solidFill>
              <a:srgbClr val="9FBFB8"/>
            </a:solidFill>
            <a:ln w="38100" cap="flat">
              <a:solidFill>
                <a:srgbClr val="9FBFB8"/>
              </a:solidFill>
              <a:prstDash val="solid"/>
              <a:round/>
            </a:ln>
            <a:effectLst/>
          </c:spPr>
          <c:invertIfNegative val="0"/>
          <c:dLbls>
            <c:numFmt formatCode="#,##0" sourceLinked="0"/>
            <c:txPr>
              <a:bodyPr/>
              <a:lstStyle/>
              <a:p>
                <a:pPr>
                  <a:defRPr b="0" i="0" strike="noStrike" sz="1000" u="none">
                    <a:solidFill>
                      <a:srgbClr val="2B2B2B"/>
                    </a:solidFill>
                    <a:latin typeface="Arial"/>
                  </a:defRPr>
                </a:pPr>
              </a:p>
            </c:txPr>
            <c:dLblPos val="t"/>
            <c:showLegendKey val="0"/>
            <c:showVal val="1"/>
            <c:showCatName val="0"/>
            <c:showSerName val="0"/>
            <c:showPercent val="0"/>
            <c:showBubbleSize val="0"/>
            <c:showLeaderLines val="0"/>
          </c:dLbls>
          <c:marker>
            <c:symbol val="circle"/>
            <c:size val="8"/>
            <c:spPr>
              <a:solidFill>
                <a:srgbClr val="9FBFB8"/>
              </a:solidFill>
              <a:ln w="9525" cap="flat">
                <a:solidFill>
                  <a:srgbClr val="9FBFB8"/>
                </a:solidFill>
                <a:prstDash val="solid"/>
                <a:round/>
              </a:ln>
              <a:effectLst/>
            </c:spPr>
          </c:marker>
          <c:cat>
            <c:multiLvlStrRef>
              <c:f>Sheet1!$A$2:$A$4</c:f>
              <c:multiLvlStrCache>
                <c:ptCount val="3"/>
                <c:lvl>
                  <c:pt idx="0">
                    <c:v>£150m book</c:v>
                  </c:pt>
                  <c:pt idx="1">
                    <c:v>£300m book</c:v>
                  </c:pt>
                  <c:pt idx="2">
                    <c:v>£600m book</c:v>
                  </c:pt>
                </c:lvl>
              </c:multiLvlStrCache>
            </c:multiLvlStrRef>
          </c:cat>
          <c:val>
            <c:numRef>
              <c:f>Sheet1!$B$2:$B$4</c:f>
              <c:numCache>
                <c:formatCode>General</c:formatCode>
                <c:ptCount val="3"/>
                <c:pt idx="0">
                  <c:v>37</c:v>
                </c:pt>
                <c:pt idx="1">
                  <c:v>69</c:v>
                </c:pt>
                <c:pt idx="2">
                  <c:v>133</c:v>
                </c:pt>
              </c:numCache>
            </c:numRef>
          </c:val>
          <c:smooth val="0"/>
        </c:ser>
        <c:ser>
          <c:idx val="1"/>
          <c:order val="1"/>
          <c:tx>
            <c:strRef>
              <c:f>Sheet1!$C$1</c:f>
              <c:strCache>
                <c:ptCount val="1"/>
                <c:pt idx="0">
                  <c:v>Verdigris headcount</c:v>
                </c:pt>
              </c:strCache>
            </c:strRef>
          </c:tx>
          <c:spPr>
            <a:solidFill>
              <a:srgbClr val="2E8B7A"/>
            </a:solidFill>
            <a:ln w="38100" cap="flat">
              <a:solidFill>
                <a:srgbClr val="2E8B7A"/>
              </a:solidFill>
              <a:prstDash val="solid"/>
              <a:round/>
            </a:ln>
            <a:effectLst/>
          </c:spPr>
          <c:invertIfNegative val="0"/>
          <c:dLbls>
            <c:numFmt formatCode="#,##0" sourceLinked="0"/>
            <c:txPr>
              <a:bodyPr/>
              <a:lstStyle/>
              <a:p>
                <a:pPr>
                  <a:defRPr b="0" i="0" strike="noStrike" sz="1000" u="none">
                    <a:solidFill>
                      <a:srgbClr val="2B2B2B"/>
                    </a:solidFill>
                    <a:latin typeface="Arial"/>
                  </a:defRPr>
                </a:pPr>
              </a:p>
            </c:txPr>
            <c:dLblPos val="t"/>
            <c:showLegendKey val="0"/>
            <c:showVal val="1"/>
            <c:showCatName val="0"/>
            <c:showSerName val="0"/>
            <c:showPercent val="0"/>
            <c:showBubbleSize val="0"/>
            <c:showLeaderLines val="0"/>
          </c:dLbls>
          <c:marker>
            <c:symbol val="circle"/>
            <c:size val="8"/>
            <c:spPr>
              <a:solidFill>
                <a:srgbClr val="2E8B7A"/>
              </a:solidFill>
              <a:ln w="9525" cap="flat">
                <a:solidFill>
                  <a:srgbClr val="2E8B7A"/>
                </a:solidFill>
                <a:prstDash val="solid"/>
                <a:round/>
              </a:ln>
              <a:effectLst/>
            </c:spPr>
          </c:marker>
          <c:cat>
            <c:multiLvlStrRef>
              <c:f>Sheet1!$A$2:$A$4</c:f>
              <c:multiLvlStrCache>
                <c:ptCount val="3"/>
                <c:lvl>
                  <c:pt idx="0">
                    <c:v>£150m book</c:v>
                  </c:pt>
                  <c:pt idx="1">
                    <c:v>£300m book</c:v>
                  </c:pt>
                  <c:pt idx="2">
                    <c:v>£600m book</c:v>
                  </c:pt>
                </c:lvl>
              </c:multiLvlStrCache>
            </c:multiLvlStrRef>
          </c:cat>
          <c:val>
            <c:numRef>
              <c:f>Sheet1!$C$2:$C$4</c:f>
              <c:numCache>
                <c:formatCode>General</c:formatCode>
                <c:ptCount val="3"/>
                <c:pt idx="0">
                  <c:v>8</c:v>
                </c:pt>
                <c:pt idx="1">
                  <c:v>11</c:v>
                </c:pt>
                <c:pt idx="2">
                  <c:v>17</c:v>
                </c:pt>
              </c:numCache>
            </c:numRef>
          </c:val>
          <c:smooth val="0"/>
        </c:ser>
        <c:dLbls>
          <c:numFmt formatCode="#,##0" sourceLinked="0"/>
          <c:txPr>
            <a:bodyPr/>
            <a:lstStyle/>
            <a:p>
              <a:pPr>
                <a:defRPr b="0" i="0" strike="noStrike" sz="1000" u="none">
                  <a:solidFill>
                    <a:srgbClr val="2B2B2B"/>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B2B2B"/>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Arial"/>
              </a:defRPr>
            </a:pPr>
            <a:r>
              <a:rPr sz="1200" b="0" i="0" u="none" strike="noStrike">
                <a:solidFill>
                  <a:srgbClr val="2B2B2B"/>
                </a:solidFill>
                <a:latin typeface="Arial"/>
              </a:rPr>
              <a:t>Operating profit, £m a year</a:t>
            </a:r>
          </a:p>
        </c:rich>
      </c:tx>
      <c:layout/>
      <c:overlay val="0"/>
    </c:title>
    <c:autoTitleDeleted val="0"/>
    <c:plotArea>
      <c:layout/>
      <c:lineChart>
        <c:varyColors val="0"/>
        <c:ser>
          <c:idx val="0"/>
          <c:order val="0"/>
          <c:tx>
            <c:strRef>
              <c:f>Sheet1!$B$1</c:f>
              <c:strCache>
                <c:ptCount val="1"/>
                <c:pt idx="0">
                  <c:v>Northgate profit £m</c:v>
                </c:pt>
              </c:strCache>
            </c:strRef>
          </c:tx>
          <c:spPr>
            <a:solidFill>
              <a:srgbClr val="9FBFB8"/>
            </a:solidFill>
            <a:ln w="38100" cap="flat">
              <a:solidFill>
                <a:srgbClr val="9FBFB8"/>
              </a:solidFill>
              <a:prstDash val="solid"/>
              <a:round/>
            </a:ln>
            <a:effectLst/>
          </c:spPr>
          <c:invertIfNegative val="0"/>
          <c:dLbls>
            <c:numFmt formatCode="#,##0.0" sourceLinked="0"/>
            <c:txPr>
              <a:bodyPr/>
              <a:lstStyle/>
              <a:p>
                <a:pPr>
                  <a:defRPr b="0" i="0" strike="noStrike" sz="1000" u="none">
                    <a:solidFill>
                      <a:srgbClr val="2B2B2B"/>
                    </a:solidFill>
                    <a:latin typeface="Arial"/>
                  </a:defRPr>
                </a:pPr>
              </a:p>
            </c:txPr>
            <c:dLblPos val="t"/>
            <c:showLegendKey val="0"/>
            <c:showVal val="1"/>
            <c:showCatName val="0"/>
            <c:showSerName val="0"/>
            <c:showPercent val="0"/>
            <c:showBubbleSize val="0"/>
            <c:showLeaderLines val="0"/>
          </c:dLbls>
          <c:marker>
            <c:symbol val="circle"/>
            <c:size val="8"/>
            <c:spPr>
              <a:solidFill>
                <a:srgbClr val="9FBFB8"/>
              </a:solidFill>
              <a:ln w="9525" cap="flat">
                <a:solidFill>
                  <a:srgbClr val="9FBFB8"/>
                </a:solidFill>
                <a:prstDash val="solid"/>
                <a:round/>
              </a:ln>
              <a:effectLst/>
            </c:spPr>
          </c:marker>
          <c:cat>
            <c:multiLvlStrRef>
              <c:f>Sheet1!$A$2:$A$4</c:f>
              <c:multiLvlStrCache>
                <c:ptCount val="3"/>
                <c:lvl>
                  <c:pt idx="0">
                    <c:v>£150m book</c:v>
                  </c:pt>
                  <c:pt idx="1">
                    <c:v>£300m book</c:v>
                  </c:pt>
                  <c:pt idx="2">
                    <c:v>£600m book</c:v>
                  </c:pt>
                </c:lvl>
              </c:multiLvlStrCache>
            </c:multiLvlStrRef>
          </c:cat>
          <c:val>
            <c:numRef>
              <c:f>Sheet1!$B$2:$B$4</c:f>
              <c:numCache>
                <c:formatCode>General</c:formatCode>
                <c:ptCount val="3"/>
                <c:pt idx="0">
                  <c:v>0.7</c:v>
                </c:pt>
                <c:pt idx="1">
                  <c:v>2.4</c:v>
                </c:pt>
                <c:pt idx="2">
                  <c:v>5.9</c:v>
                </c:pt>
              </c:numCache>
            </c:numRef>
          </c:val>
          <c:smooth val="0"/>
        </c:ser>
        <c:ser>
          <c:idx val="1"/>
          <c:order val="1"/>
          <c:tx>
            <c:strRef>
              <c:f>Sheet1!$C$1</c:f>
              <c:strCache>
                <c:ptCount val="1"/>
                <c:pt idx="0">
                  <c:v>Verdigris profit £m</c:v>
                </c:pt>
              </c:strCache>
            </c:strRef>
          </c:tx>
          <c:spPr>
            <a:solidFill>
              <a:srgbClr val="B87333"/>
            </a:solidFill>
            <a:ln w="38100" cap="flat">
              <a:solidFill>
                <a:srgbClr val="B87333"/>
              </a:solidFill>
              <a:prstDash val="solid"/>
              <a:round/>
            </a:ln>
            <a:effectLst/>
          </c:spPr>
          <c:invertIfNegative val="0"/>
          <c:dLbls>
            <c:numFmt formatCode="#,##0.0" sourceLinked="0"/>
            <c:txPr>
              <a:bodyPr/>
              <a:lstStyle/>
              <a:p>
                <a:pPr>
                  <a:defRPr b="0" i="0" strike="noStrike" sz="1000" u="none">
                    <a:solidFill>
                      <a:srgbClr val="2B2B2B"/>
                    </a:solidFill>
                    <a:latin typeface="Arial"/>
                  </a:defRPr>
                </a:pPr>
              </a:p>
            </c:txPr>
            <c:dLblPos val="t"/>
            <c:showLegendKey val="0"/>
            <c:showVal val="1"/>
            <c:showCatName val="0"/>
            <c:showSerName val="0"/>
            <c:showPercent val="0"/>
            <c:showBubbleSize val="0"/>
            <c:showLeaderLines val="0"/>
          </c:dLbls>
          <c:marker>
            <c:symbol val="circle"/>
            <c:size val="8"/>
            <c:spPr>
              <a:solidFill>
                <a:srgbClr val="B87333"/>
              </a:solidFill>
              <a:ln w="9525" cap="flat">
                <a:solidFill>
                  <a:srgbClr val="B87333"/>
                </a:solidFill>
                <a:prstDash val="solid"/>
                <a:round/>
              </a:ln>
              <a:effectLst/>
            </c:spPr>
          </c:marker>
          <c:cat>
            <c:multiLvlStrRef>
              <c:f>Sheet1!$A$2:$A$4</c:f>
              <c:multiLvlStrCache>
                <c:ptCount val="3"/>
                <c:lvl>
                  <c:pt idx="0">
                    <c:v>£150m book</c:v>
                  </c:pt>
                  <c:pt idx="1">
                    <c:v>£300m book</c:v>
                  </c:pt>
                  <c:pt idx="2">
                    <c:v>£600m book</c:v>
                  </c:pt>
                </c:lvl>
              </c:multiLvlStrCache>
            </c:multiLvlStrRef>
          </c:cat>
          <c:val>
            <c:numRef>
              <c:f>Sheet1!$C$2:$C$4</c:f>
              <c:numCache>
                <c:formatCode>General</c:formatCode>
                <c:ptCount val="3"/>
                <c:pt idx="0">
                  <c:v>3.8</c:v>
                </c:pt>
                <c:pt idx="1">
                  <c:v>8.2</c:v>
                </c:pt>
                <c:pt idx="2">
                  <c:v>17</c:v>
                </c:pt>
              </c:numCache>
            </c:numRef>
          </c:val>
          <c:smooth val="0"/>
        </c:ser>
        <c:dLbls>
          <c:numFmt formatCode="#,##0.0" sourceLinked="0"/>
          <c:txPr>
            <a:bodyPr/>
            <a:lstStyle/>
            <a:p>
              <a:pPr>
                <a:defRPr b="0" i="0" strike="noStrike" sz="1000" u="none">
                  <a:solidFill>
                    <a:srgbClr val="2B2B2B"/>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2B2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B2B2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Verdigris is an AI-native lender. I underwrite bridging loans for a living and carry 15–25 live deals at a time. Agents hold the file; the underwriter decides. That is how a small team runs a large book, and grows it without hiring.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Composite of a typical mid-size London lender. Headcount shape from my own experience; completion times from Bridging Trends 2025–26. I deliberately don't pitch speed: third parties set the timeline. The pitch is capacity: how many deals one underwriter can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multiple = 12 underwriter hours per case today ÷ 1.5 hours of review when agents draft the pack = 8×. On a 15–25 caseload that is 120–200 live deals. Going beyond 200 needs review time below 1.5 hours; the model does not assume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inputs are in the accompanying spreadsheet, each with its source. Northgate is a composite, not a real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people: two founders, two senior underwriters who review and decide, one ops, one compliance, one BDM, one engineer. AI cost is £16 per case with a 10x safety factor, plus £50 of data searches. Traditional profit £0.68m, AI-native £3.82m on £4.8m net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available: a real deal's documents in, a cited credit pack out. Built with Cursor and Claude Code. Underwriting logic encoded from my own completed loans; tested against cases where I already know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of 37 roles: Northgate's 37 people vs Verdigris's 8 on the same book (economics model). The moat is not the model — anyone can call an LLM. It is the underwriting judgement encoded in the workflow, the labelled review data, and the cost base once lending.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is not the pitch today: third parties set the timeline. But the transcript view from Orbital is that legal reasoning becomes near-instant and the bottleneck becomes humans. When that happens, the lender is the slowest link, unless it is already AI-native. Verdigris is built for that world; the end state is a lender one person can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48"/>
        </a:solidFill>
      </p:bgPr>
    </p:bg>
    <p:spTree>
      <p:nvGrpSpPr>
        <p:cNvPr id="1" name=""/>
        <p:cNvGrpSpPr/>
        <p:nvPr/>
      </p:nvGrpSpPr>
      <p:grpSpPr>
        <a:xfrm>
          <a:off x="0" y="0"/>
          <a:ext cx="0" cy="0"/>
          <a:chOff x="0" y="0"/>
          <a:chExt cx="0" cy="0"/>
        </a:xfrm>
      </p:grpSpPr>
      <p:sp>
        <p:nvSpPr>
          <p:cNvPr id="2" name="Shape 0"/>
          <p:cNvSpPr/>
          <p:nvPr/>
        </p:nvSpPr>
        <p:spPr>
          <a:xfrm>
            <a:off x="7040880" y="228600"/>
            <a:ext cx="3108960" cy="3108960"/>
          </a:xfrm>
          <a:prstGeom prst="ellipse">
            <a:avLst/>
          </a:prstGeom>
          <a:solidFill>
            <a:srgbClr val="2E8B7A"/>
          </a:solidFill>
          <a:ln w="12700">
            <a:solidFill>
              <a:srgbClr val="2E8B7A"/>
            </a:solidFill>
            <a:prstDash val="solid"/>
          </a:ln>
        </p:spPr>
      </p:sp>
      <p:sp>
        <p:nvSpPr>
          <p:cNvPr id="3" name="Shape 1"/>
          <p:cNvSpPr/>
          <p:nvPr/>
        </p:nvSpPr>
        <p:spPr>
          <a:xfrm>
            <a:off x="7955280" y="3566160"/>
            <a:ext cx="2011680" cy="2011680"/>
          </a:xfrm>
          <a:prstGeom prst="ellipse">
            <a:avLst/>
          </a:prstGeom>
          <a:solidFill>
            <a:srgbClr val="B87333"/>
          </a:solidFill>
          <a:ln w="12700">
            <a:solidFill>
              <a:srgbClr val="B87333"/>
            </a:solidFill>
            <a:prstDash val="solid"/>
          </a:ln>
        </p:spPr>
      </p:sp>
      <p:sp>
        <p:nvSpPr>
          <p:cNvPr id="4" name="Text 2"/>
          <p:cNvSpPr txBox="1"/>
          <p:nvPr/>
        </p:nvSpPr>
        <p:spPr>
          <a:xfrm>
            <a:off x="548640" y="1371600"/>
            <a:ext cx="5943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Verdigris</a:t>
            </a:r>
            <a:endParaRPr lang="en-US" sz="5400" dirty="0"/>
          </a:p>
        </p:txBody>
      </p:sp>
      <p:sp>
        <p:nvSpPr>
          <p:cNvPr id="5" name="Text 3"/>
          <p:cNvSpPr txBox="1"/>
          <p:nvPr/>
        </p:nvSpPr>
        <p:spPr>
          <a:xfrm>
            <a:off x="548640" y="2377440"/>
            <a:ext cx="6309360" cy="502920"/>
          </a:xfrm>
          <a:prstGeom prst="rect">
            <a:avLst/>
          </a:prstGeom>
          <a:noFill/>
          <a:ln/>
        </p:spPr>
        <p:txBody>
          <a:bodyPr wrap="square" lIns="0" tIns="0" rIns="0" bIns="0" rtlCol="0" anchor="t"/>
          <a:lstStyle/>
          <a:p>
            <a:pPr indent="0" marL="0">
              <a:buNone/>
            </a:pPr>
            <a:r>
              <a:rPr lang="en-US" sz="1800" dirty="0">
                <a:solidFill>
                  <a:srgbClr val="CFE3DE"/>
                </a:solidFill>
                <a:latin typeface="Calibri" pitchFamily="34" charset="0"/>
                <a:ea typeface="Calibri" pitchFamily="34" charset="-122"/>
                <a:cs typeface="Calibri" pitchFamily="34" charset="-120"/>
              </a:rPr>
              <a:t>The AI-native lender for UK bridging and development finance</a:t>
            </a:r>
            <a:endParaRPr lang="en-US" sz="1800" dirty="0"/>
          </a:p>
        </p:txBody>
      </p:sp>
      <p:sp>
        <p:nvSpPr>
          <p:cNvPr id="6" name="Text 4"/>
          <p:cNvSpPr txBox="1"/>
          <p:nvPr/>
        </p:nvSpPr>
        <p:spPr>
          <a:xfrm>
            <a:off x="548640" y="2926080"/>
            <a:ext cx="6309360" cy="457200"/>
          </a:xfrm>
          <a:prstGeom prst="rect">
            <a:avLst/>
          </a:prstGeom>
          <a:noFill/>
          <a:ln/>
        </p:spPr>
        <p:txBody>
          <a:bodyPr wrap="square" lIns="0" tIns="0" rIns="0" bIns="0" rtlCol="0" anchor="t"/>
          <a:lstStyle/>
          <a:p>
            <a:pPr indent="0" marL="0">
              <a:buNone/>
            </a:pPr>
            <a:r>
              <a:rPr lang="en-US" sz="1400" i="1" dirty="0">
                <a:solidFill>
                  <a:srgbClr val="CFE3DE"/>
                </a:solidFill>
                <a:latin typeface="Calibri" pitchFamily="34" charset="0"/>
                <a:ea typeface="Calibri" pitchFamily="34" charset="-122"/>
                <a:cs typeface="Calibri" pitchFamily="34" charset="-120"/>
              </a:rPr>
              <a:t>One underwriter. 200 live deals. A lender that scales by compute, not headcount.</a:t>
            </a:r>
            <a:endParaRPr lang="en-US" sz="1400" dirty="0"/>
          </a:p>
        </p:txBody>
      </p:sp>
      <p:sp>
        <p:nvSpPr>
          <p:cNvPr id="7" name="Text 5"/>
          <p:cNvSpPr txBox="1"/>
          <p:nvPr/>
        </p:nvSpPr>
        <p:spPr>
          <a:xfrm>
            <a:off x="548640" y="4297680"/>
            <a:ext cx="6400800" cy="365760"/>
          </a:xfrm>
          <a:prstGeom prst="rect">
            <a:avLst/>
          </a:prstGeom>
          <a:noFill/>
          <a:ln/>
        </p:spPr>
        <p:txBody>
          <a:bodyPr wrap="square" lIns="0" tIns="0" rIns="0" bIns="0" rtlCol="0" anchor="ctr"/>
          <a:lstStyle/>
          <a:p>
            <a:pPr indent="0" marL="0">
              <a:buNone/>
            </a:pPr>
            <a:r>
              <a:rPr lang="en-US" sz="1100" dirty="0">
                <a:solidFill>
                  <a:srgbClr val="9FBFB8"/>
                </a:solidFill>
                <a:latin typeface="Calibri" pitchFamily="34" charset="0"/>
                <a:ea typeface="Calibri" pitchFamily="34" charset="-122"/>
                <a:cs typeface="Calibri" pitchFamily="34" charset="-120"/>
              </a:rPr>
              <a:t>Lisa Huang  ·  Antler UK residency application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A bridging lender can only grow as fast as it can hire underwriters.</a:t>
            </a:r>
            <a:endParaRPr lang="en-US" sz="2400" dirty="0"/>
          </a:p>
        </p:txBody>
      </p:sp>
      <p:sp>
        <p:nvSpPr>
          <p:cNvPr id="3" name="Text 1"/>
          <p:cNvSpPr txBox="1"/>
          <p:nvPr/>
        </p:nvSpPr>
        <p:spPr>
          <a:xfrm>
            <a:off x="457200" y="1188720"/>
            <a:ext cx="2560320" cy="685800"/>
          </a:xfrm>
          <a:prstGeom prst="rect">
            <a:avLst/>
          </a:prstGeom>
          <a:noFill/>
          <a:ln/>
        </p:spPr>
        <p:txBody>
          <a:bodyPr wrap="square" lIns="0" tIns="0" rIns="0" bIns="0" rtlCol="0" anchor="b"/>
          <a:lstStyle/>
          <a:p>
            <a:pPr indent="0" marL="0">
              <a:buNone/>
            </a:pPr>
            <a:r>
              <a:rPr lang="en-US" sz="3600" b="1" dirty="0">
                <a:solidFill>
                  <a:srgbClr val="2E8B7A"/>
                </a:solidFill>
                <a:latin typeface="Cambria" pitchFamily="34" charset="0"/>
                <a:ea typeface="Cambria" pitchFamily="34" charset="-122"/>
                <a:cs typeface="Cambria" pitchFamily="34" charset="-120"/>
              </a:rPr>
              <a:t>15–25</a:t>
            </a:r>
            <a:endParaRPr lang="en-US" sz="3600" dirty="0"/>
          </a:p>
        </p:txBody>
      </p:sp>
      <p:sp>
        <p:nvSpPr>
          <p:cNvPr id="4" name="Text 2"/>
          <p:cNvSpPr txBox="1"/>
          <p:nvPr/>
        </p:nvSpPr>
        <p:spPr>
          <a:xfrm>
            <a:off x="457200" y="1901952"/>
            <a:ext cx="2560320" cy="502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live deals one underwriter can carry at once. That is the ceiling on growth.</a:t>
            </a:r>
            <a:endParaRPr lang="en-US" sz="1100" dirty="0"/>
          </a:p>
        </p:txBody>
      </p:sp>
      <p:sp>
        <p:nvSpPr>
          <p:cNvPr id="5" name="Text 3"/>
          <p:cNvSpPr txBox="1"/>
          <p:nvPr/>
        </p:nvSpPr>
        <p:spPr>
          <a:xfrm>
            <a:off x="3291840" y="1188720"/>
            <a:ext cx="2560320" cy="685800"/>
          </a:xfrm>
          <a:prstGeom prst="rect">
            <a:avLst/>
          </a:prstGeom>
          <a:noFill/>
          <a:ln/>
        </p:spPr>
        <p:txBody>
          <a:bodyPr wrap="square" lIns="0" tIns="0" rIns="0" bIns="0" rtlCol="0" anchor="b"/>
          <a:lstStyle/>
          <a:p>
            <a:pPr indent="0" marL="0">
              <a:buNone/>
            </a:pPr>
            <a:r>
              <a:rPr lang="en-US" sz="3600" b="1" dirty="0">
                <a:solidFill>
                  <a:srgbClr val="2E8B7A"/>
                </a:solidFill>
                <a:latin typeface="Cambria" pitchFamily="34" charset="0"/>
                <a:ea typeface="Cambria" pitchFamily="34" charset="-122"/>
                <a:cs typeface="Cambria" pitchFamily="34" charset="-120"/>
              </a:rPr>
              <a:t>~12 hrs</a:t>
            </a:r>
            <a:endParaRPr lang="en-US" sz="3600" dirty="0"/>
          </a:p>
        </p:txBody>
      </p:sp>
      <p:sp>
        <p:nvSpPr>
          <p:cNvPr id="6" name="Text 4"/>
          <p:cNvSpPr txBox="1"/>
          <p:nvPr/>
        </p:nvSpPr>
        <p:spPr>
          <a:xfrm>
            <a:off x="3291840" y="1901952"/>
            <a:ext cx="2560320" cy="502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of underwriter time per assessed case, most of it reading and chasing</a:t>
            </a:r>
            <a:endParaRPr lang="en-US" sz="1100" dirty="0"/>
          </a:p>
        </p:txBody>
      </p:sp>
      <p:sp>
        <p:nvSpPr>
          <p:cNvPr id="7" name="Text 5"/>
          <p:cNvSpPr txBox="1"/>
          <p:nvPr/>
        </p:nvSpPr>
        <p:spPr>
          <a:xfrm>
            <a:off x="6126480" y="1188720"/>
            <a:ext cx="2560320" cy="685800"/>
          </a:xfrm>
          <a:prstGeom prst="rect">
            <a:avLst/>
          </a:prstGeom>
          <a:noFill/>
          <a:ln/>
        </p:spPr>
        <p:txBody>
          <a:bodyPr wrap="square" lIns="0" tIns="0" rIns="0" bIns="0" rtlCol="0" anchor="b"/>
          <a:lstStyle/>
          <a:p>
            <a:pPr indent="0" marL="0">
              <a:buNone/>
            </a:pPr>
            <a:r>
              <a:rPr lang="en-US" sz="3600" b="1" dirty="0">
                <a:solidFill>
                  <a:srgbClr val="2E8B7A"/>
                </a:solidFill>
                <a:latin typeface="Cambria" pitchFamily="34" charset="0"/>
                <a:ea typeface="Cambria" pitchFamily="34" charset="-122"/>
                <a:cs typeface="Cambria" pitchFamily="34" charset="-120"/>
              </a:rPr>
              <a:t>37 people</a:t>
            </a:r>
            <a:endParaRPr lang="en-US" sz="3600" dirty="0"/>
          </a:p>
        </p:txBody>
      </p:sp>
      <p:sp>
        <p:nvSpPr>
          <p:cNvPr id="8" name="Text 6"/>
          <p:cNvSpPr txBox="1"/>
          <p:nvPr/>
        </p:nvSpPr>
        <p:spPr>
          <a:xfrm>
            <a:off x="6126480" y="1901952"/>
            <a:ext cx="2560320" cy="502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to run a £150m book: every £4m of growth means another hire</a:t>
            </a:r>
            <a:endParaRPr lang="en-US" sz="1100" dirty="0"/>
          </a:p>
        </p:txBody>
      </p:sp>
      <p:sp>
        <p:nvSpPr>
          <p:cNvPr id="9" name="Shape 7"/>
          <p:cNvSpPr/>
          <p:nvPr/>
        </p:nvSpPr>
        <p:spPr>
          <a:xfrm>
            <a:off x="457200" y="2697480"/>
            <a:ext cx="4023360" cy="1920240"/>
          </a:xfrm>
          <a:prstGeom prst="roundRect">
            <a:avLst>
              <a:gd name="adj" fmla="val 3810"/>
            </a:avLst>
          </a:prstGeom>
          <a:solidFill>
            <a:srgbClr val="E6F0ED"/>
          </a:solidFill>
          <a:ln w="12700">
            <a:solidFill>
              <a:srgbClr val="E6F0ED"/>
            </a:solidFill>
            <a:prstDash val="solid"/>
          </a:ln>
        </p:spPr>
      </p:sp>
      <p:sp>
        <p:nvSpPr>
          <p:cNvPr id="10" name="Text 8"/>
          <p:cNvSpPr txBox="1"/>
          <p:nvPr/>
        </p:nvSpPr>
        <p:spPr>
          <a:xfrm>
            <a:off x="640080" y="2807208"/>
            <a:ext cx="3657600" cy="274320"/>
          </a:xfrm>
          <a:prstGeom prst="rect">
            <a:avLst/>
          </a:prstGeom>
          <a:noFill/>
          <a:ln/>
        </p:spPr>
        <p:txBody>
          <a:bodyPr wrap="square" lIns="0" tIns="0" rIns="0" bIns="0" rtlCol="0" anchor="t"/>
          <a:lstStyle/>
          <a:p>
            <a:pPr indent="0" marL="0">
              <a:buNone/>
            </a:pPr>
            <a:r>
              <a:rPr lang="en-US" sz="1200" b="1" dirty="0">
                <a:solidFill>
                  <a:srgbClr val="1F4E48"/>
                </a:solidFill>
                <a:latin typeface="Calibri" pitchFamily="34" charset="0"/>
                <a:ea typeface="Calibri" pitchFamily="34" charset="-122"/>
                <a:cs typeface="Calibri" pitchFamily="34" charset="-120"/>
              </a:rPr>
              <a:t>What the 37 people actually do</a:t>
            </a:r>
            <a:endParaRPr lang="en-US" sz="1200" dirty="0"/>
          </a:p>
        </p:txBody>
      </p:sp>
      <p:sp>
        <p:nvSpPr>
          <p:cNvPr id="11" name="Text 9"/>
          <p:cNvSpPr txBox="1"/>
          <p:nvPr/>
        </p:nvSpPr>
        <p:spPr>
          <a:xfrm>
            <a:off x="640080" y="3127248"/>
            <a:ext cx="3657600" cy="14630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10 in credit read valuations, monitoring-surveyor reports and bank statements, then reconcile the parties who disagree.</a:t>
            </a:r>
            <a:endParaRPr lang="en-US" sz="1050" dirty="0"/>
          </a:p>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8 in portfolio chase solicitors, valuers and surveyors, then service the loan to redemption.</a:t>
            </a:r>
            <a:endParaRPr lang="en-US" sz="1050" dirty="0"/>
          </a:p>
          <a:p>
            <a:pPr marL="342900" indent="-342900">
              <a:spcAft>
                <a:spcPts val="600"/>
              </a:spcAft>
              <a:buSzPct val="100000"/>
              <a:buChar char="•"/>
            </a:pPr>
            <a:r>
              <a:rPr lang="en-US" sz="1050" dirty="0">
                <a:solidFill>
                  <a:srgbClr val="2B2B2B"/>
                </a:solidFill>
                <a:latin typeface="Calibri" pitchFamily="34" charset="0"/>
                <a:ea typeface="Calibri" pitchFamily="34" charset="-122"/>
                <a:cs typeface="Calibri" pitchFamily="34" charset="-120"/>
              </a:rPr>
              <a:t>The credit decision itself is a fraction of anyone's week.</a:t>
            </a:r>
            <a:endParaRPr lang="en-US" sz="1050" dirty="0"/>
          </a:p>
        </p:txBody>
      </p:sp>
      <p:sp>
        <p:nvSpPr>
          <p:cNvPr id="12" name="Shape 10"/>
          <p:cNvSpPr/>
          <p:nvPr/>
        </p:nvSpPr>
        <p:spPr>
          <a:xfrm>
            <a:off x="4663440" y="2697480"/>
            <a:ext cx="4023360" cy="1920240"/>
          </a:xfrm>
          <a:prstGeom prst="roundRect">
            <a:avLst>
              <a:gd name="adj" fmla="val 3810"/>
            </a:avLst>
          </a:prstGeom>
          <a:solidFill>
            <a:srgbClr val="1F4E48"/>
          </a:solidFill>
          <a:ln w="12700">
            <a:solidFill>
              <a:srgbClr val="1F4E48"/>
            </a:solidFill>
            <a:prstDash val="solid"/>
          </a:ln>
        </p:spPr>
      </p:sp>
      <p:sp>
        <p:nvSpPr>
          <p:cNvPr id="13" name="Text 11"/>
          <p:cNvSpPr txBox="1"/>
          <p:nvPr/>
        </p:nvSpPr>
        <p:spPr>
          <a:xfrm>
            <a:off x="4846320" y="2807208"/>
            <a:ext cx="36576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This is not a speed problem</a:t>
            </a:r>
            <a:endParaRPr lang="en-US" sz="1200" dirty="0"/>
          </a:p>
        </p:txBody>
      </p:sp>
      <p:sp>
        <p:nvSpPr>
          <p:cNvPr id="14" name="Text 12"/>
          <p:cNvSpPr txBox="1"/>
          <p:nvPr/>
        </p:nvSpPr>
        <p:spPr>
          <a:xfrm>
            <a:off x="4846320" y="3127248"/>
            <a:ext cx="3657600" cy="1417320"/>
          </a:xfrm>
          <a:prstGeom prst="rect">
            <a:avLst/>
          </a:prstGeom>
          <a:noFill/>
          <a:ln/>
        </p:spPr>
        <p:txBody>
          <a:bodyPr wrap="square" lIns="0" tIns="0" rIns="0" bIns="0" rtlCol="0" anchor="t"/>
          <a:lstStyle/>
          <a:p>
            <a:pPr indent="0" marL="0">
              <a:buNone/>
            </a:pPr>
            <a:r>
              <a:rPr lang="en-US" sz="1050" dirty="0">
                <a:solidFill>
                  <a:srgbClr val="E6F0ED"/>
                </a:solidFill>
                <a:latin typeface="Calibri" pitchFamily="34" charset="0"/>
                <a:ea typeface="Calibri" pitchFamily="34" charset="-122"/>
                <a:cs typeface="Calibri" pitchFamily="34" charset="-120"/>
              </a:rPr>
              <a:t>A bridging loan takes 43–53 days on average, and that pace is set by the valuation, the monitoring surveyor's report and the solicitor's title work. The lender controls none of them. What it does control is how many files each person can hold while they wait. Today that is 15–25.</a:t>
            </a:r>
            <a:endParaRPr lang="en-US" sz="1050" dirty="0"/>
          </a:p>
        </p:txBody>
      </p:sp>
      <p:sp>
        <p:nvSpPr>
          <p:cNvPr id="15" name="Text 13"/>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16" name="Text 1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Where an underwriter's capacity goes</a:t>
            </a:r>
            <a:endParaRPr lang="en-US" sz="2400" dirty="0"/>
          </a:p>
        </p:txBody>
      </p:sp>
      <p:graphicFrame>
        <p:nvGraphicFramePr>
          <p:cNvPr id="3" name="Chart 0" descr=""/>
          <p:cNvGraphicFramePr/>
          <p:nvPr/>
        </p:nvGraphicFramePr>
        <p:xfrm>
          <a:off x="457200" y="118872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852160" y="1143000"/>
            <a:ext cx="2834640" cy="3291840"/>
          </a:xfrm>
          <a:prstGeom prst="roundRect">
            <a:avLst>
              <a:gd name="adj" fmla="val 2581"/>
            </a:avLst>
          </a:prstGeom>
          <a:solidFill>
            <a:srgbClr val="1F4E48"/>
          </a:solidFill>
          <a:ln w="12700">
            <a:solidFill>
              <a:srgbClr val="1F4E48"/>
            </a:solidFill>
            <a:prstDash val="solid"/>
          </a:ln>
        </p:spPr>
      </p:sp>
      <p:sp>
        <p:nvSpPr>
          <p:cNvPr id="5" name="Text 2"/>
          <p:cNvSpPr txBox="1"/>
          <p:nvPr/>
        </p:nvSpPr>
        <p:spPr>
          <a:xfrm>
            <a:off x="6035040" y="1325880"/>
            <a:ext cx="2468880"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judgement is 10–20%.</a:t>
            </a:r>
            <a:endParaRPr lang="en-US" sz="1800" dirty="0"/>
          </a:p>
        </p:txBody>
      </p:sp>
      <p:sp>
        <p:nvSpPr>
          <p:cNvPr id="6" name="Text 3"/>
          <p:cNvSpPr txBox="1"/>
          <p:nvPr/>
        </p:nvSpPr>
        <p:spPr>
          <a:xfrm>
            <a:off x="6035040" y="2194560"/>
            <a:ext cx="2468880" cy="1463040"/>
          </a:xfrm>
          <a:prstGeom prst="rect">
            <a:avLst/>
          </a:prstGeom>
          <a:noFill/>
          <a:ln/>
        </p:spPr>
        <p:txBody>
          <a:bodyPr wrap="square" lIns="0" tIns="0" rIns="0" bIns="0" rtlCol="0" anchor="ctr"/>
          <a:lstStyle/>
          <a:p>
            <a:pPr indent="0" marL="0">
              <a:buNone/>
            </a:pPr>
            <a:r>
              <a:rPr lang="en-US" sz="1100" dirty="0">
                <a:solidFill>
                  <a:srgbClr val="CFE3DE"/>
                </a:solidFill>
                <a:latin typeface="Calibri" pitchFamily="34" charset="0"/>
                <a:ea typeface="Calibri" pitchFamily="34" charset="-122"/>
                <a:cs typeface="Calibri" pitchFamily="34" charset="-120"/>
              </a:rPr>
              <a:t>Everything else is document work and chasing: extracting, cross-checking, summarising, following up. An agent can do that for 200 files at once while they wait on third parties. A person can do it for 20.</a:t>
            </a:r>
            <a:endParaRPr lang="en-US" sz="1100" dirty="0"/>
          </a:p>
        </p:txBody>
      </p:sp>
      <p:sp>
        <p:nvSpPr>
          <p:cNvPr id="7" name="Text 4"/>
          <p:cNvSpPr txBox="1"/>
          <p:nvPr/>
        </p:nvSpPr>
        <p:spPr>
          <a:xfrm>
            <a:off x="6035040" y="3749040"/>
            <a:ext cx="2468880" cy="457200"/>
          </a:xfrm>
          <a:prstGeom prst="rect">
            <a:avLst/>
          </a:prstGeom>
          <a:noFill/>
          <a:ln/>
        </p:spPr>
        <p:txBody>
          <a:bodyPr wrap="square" lIns="0" tIns="0" rIns="0" bIns="0" rtlCol="0" anchor="ctr"/>
          <a:lstStyle/>
          <a:p>
            <a:pPr indent="0" marL="0">
              <a:buNone/>
            </a:pPr>
            <a:r>
              <a:rPr lang="en-US" sz="1000" i="1" dirty="0">
                <a:solidFill>
                  <a:srgbClr val="E8C9AE"/>
                </a:solidFill>
                <a:latin typeface="Calibri" pitchFamily="34" charset="0"/>
                <a:ea typeface="Calibri" pitchFamily="34" charset="-122"/>
                <a:cs typeface="Calibri" pitchFamily="34" charset="-120"/>
              </a:rPr>
              <a:t>Copper = where a human must stay.</a:t>
            </a:r>
            <a:endParaRPr lang="en-US" sz="1000" dirty="0"/>
          </a:p>
        </p:txBody>
      </p:sp>
      <p:sp>
        <p:nvSpPr>
          <p:cNvPr id="8" name="Text 5"/>
          <p:cNvSpPr txBox="1"/>
          <p:nvPr/>
        </p:nvSpPr>
        <p:spPr>
          <a:xfrm>
            <a:off x="457200" y="4526280"/>
            <a:ext cx="5120640" cy="274320"/>
          </a:xfrm>
          <a:prstGeom prst="rect">
            <a:avLst/>
          </a:prstGeom>
          <a:noFill/>
          <a:ln/>
        </p:spPr>
        <p:txBody>
          <a:bodyPr wrap="square" lIns="0" tIns="0" rIns="0" bIns="0" rtlCol="0" anchor="t"/>
          <a:lstStyle/>
          <a:p>
            <a:pPr indent="0" marL="0">
              <a:buNone/>
            </a:pPr>
            <a:r>
              <a:rPr lang="en-US" sz="900" dirty="0">
                <a:solidFill>
                  <a:srgbClr val="6B7674"/>
                </a:solidFill>
                <a:latin typeface="Calibri" pitchFamily="34" charset="0"/>
                <a:ea typeface="Calibri" pitchFamily="34" charset="-122"/>
                <a:cs typeface="Calibri" pitchFamily="34" charset="-120"/>
              </a:rPr>
              <a:t>Founder estimate from ~25 completed loans a year and a 15–25 case pipeline; to be measured with design partners.</a:t>
            </a:r>
            <a:endParaRPr lang="en-US" sz="900" dirty="0"/>
          </a:p>
        </p:txBody>
      </p:sp>
      <p:sp>
        <p:nvSpPr>
          <p:cNvPr id="9" name="Text 6"/>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10" name="Text 7"/>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4E48"/>
        </a:solidFill>
      </p:bgPr>
    </p:bg>
    <p:spTree>
      <p:nvGrpSpPr>
        <p:cNvPr id="1" name=""/>
        <p:cNvGrpSpPr/>
        <p:nvPr/>
      </p:nvGrpSpPr>
      <p:grpSpPr>
        <a:xfrm>
          <a:off x="0" y="0"/>
          <a:ext cx="0" cy="0"/>
          <a:chOff x="0" y="0"/>
          <a:chExt cx="0" cy="0"/>
        </a:xfrm>
      </p:grpSpPr>
      <p:sp>
        <p:nvSpPr>
          <p:cNvPr id="2" name="Text 0"/>
          <p:cNvSpPr txBox="1"/>
          <p:nvPr/>
        </p:nvSpPr>
        <p:spPr>
          <a:xfrm>
            <a:off x="548640" y="502920"/>
            <a:ext cx="8046720" cy="10058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Capacity, not speed. One underwriter, 200 live deals.</a:t>
            </a:r>
            <a:endParaRPr lang="en-US" sz="3000" dirty="0"/>
          </a:p>
        </p:txBody>
      </p:sp>
      <p:sp>
        <p:nvSpPr>
          <p:cNvPr id="3" name="Shape 1"/>
          <p:cNvSpPr/>
          <p:nvPr/>
        </p:nvSpPr>
        <p:spPr>
          <a:xfrm>
            <a:off x="548640" y="1645920"/>
            <a:ext cx="3840480" cy="2743200"/>
          </a:xfrm>
          <a:prstGeom prst="roundRect">
            <a:avLst>
              <a:gd name="adj" fmla="val 2667"/>
            </a:avLst>
          </a:prstGeom>
          <a:solidFill>
            <a:srgbClr val="2A5F58"/>
          </a:solidFill>
          <a:ln w="12700">
            <a:solidFill>
              <a:srgbClr val="2A5F58"/>
            </a:solidFill>
            <a:prstDash val="solid"/>
          </a:ln>
        </p:spPr>
      </p:sp>
      <p:sp>
        <p:nvSpPr>
          <p:cNvPr id="4" name="Shape 2"/>
          <p:cNvSpPr/>
          <p:nvPr/>
        </p:nvSpPr>
        <p:spPr>
          <a:xfrm>
            <a:off x="4754880" y="1645920"/>
            <a:ext cx="3840480" cy="2743200"/>
          </a:xfrm>
          <a:prstGeom prst="roundRect">
            <a:avLst>
              <a:gd name="adj" fmla="val 2667"/>
            </a:avLst>
          </a:prstGeom>
          <a:solidFill>
            <a:srgbClr val="2E8B7A"/>
          </a:solidFill>
          <a:ln w="12700">
            <a:solidFill>
              <a:srgbClr val="2E8B7A"/>
            </a:solidFill>
            <a:prstDash val="solid"/>
          </a:ln>
        </p:spPr>
      </p:sp>
      <p:sp>
        <p:nvSpPr>
          <p:cNvPr id="5" name="Text 3"/>
          <p:cNvSpPr txBox="1"/>
          <p:nvPr/>
        </p:nvSpPr>
        <p:spPr>
          <a:xfrm>
            <a:off x="777240" y="1783080"/>
            <a:ext cx="338328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Traditional lender</a:t>
            </a:r>
            <a:endParaRPr lang="en-US" sz="1600" dirty="0"/>
          </a:p>
        </p:txBody>
      </p:sp>
      <p:sp>
        <p:nvSpPr>
          <p:cNvPr id="6" name="Text 4"/>
          <p:cNvSpPr txBox="1"/>
          <p:nvPr/>
        </p:nvSpPr>
        <p:spPr>
          <a:xfrm>
            <a:off x="777240" y="2194560"/>
            <a:ext cx="3383280" cy="21488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6F0ED"/>
                </a:solidFill>
                <a:latin typeface="Calibri" pitchFamily="34" charset="0"/>
                <a:ea typeface="Calibri" pitchFamily="34" charset="-122"/>
                <a:cs typeface="Calibri" pitchFamily="34" charset="-120"/>
              </a:rPr>
              <a:t>People read, reconcile, chase and draft.</a:t>
            </a:r>
            <a:endParaRPr lang="en-US" sz="1200" dirty="0"/>
          </a:p>
          <a:p>
            <a:pPr marL="342900" indent="-342900">
              <a:spcAft>
                <a:spcPts val="600"/>
              </a:spcAft>
              <a:buSzPct val="100000"/>
              <a:buChar char="•"/>
            </a:pPr>
            <a:r>
              <a:rPr lang="en-US" sz="1200" dirty="0">
                <a:solidFill>
                  <a:srgbClr val="E6F0ED"/>
                </a:solidFill>
                <a:latin typeface="Calibri" pitchFamily="34" charset="0"/>
                <a:ea typeface="Calibri" pitchFamily="34" charset="-122"/>
                <a:cs typeface="Calibri" pitchFamily="34" charset="-120"/>
              </a:rPr>
              <a:t>One underwriter carries 15–25 live deals.</a:t>
            </a:r>
            <a:endParaRPr lang="en-US" sz="1200" dirty="0"/>
          </a:p>
          <a:p>
            <a:pPr marL="342900" indent="-342900">
              <a:spcAft>
                <a:spcPts val="600"/>
              </a:spcAft>
              <a:buSzPct val="100000"/>
              <a:buChar char="•"/>
            </a:pPr>
            <a:r>
              <a:rPr lang="en-US" sz="1200" dirty="0">
                <a:solidFill>
                  <a:srgbClr val="E6F0ED"/>
                </a:solidFill>
                <a:latin typeface="Calibri" pitchFamily="34" charset="0"/>
                <a:ea typeface="Calibri" pitchFamily="34" charset="-122"/>
                <a:cs typeface="Calibri" pitchFamily="34" charset="-120"/>
              </a:rPr>
              <a:t>Every £4m of book needs another employee.</a:t>
            </a:r>
            <a:endParaRPr lang="en-US" sz="1200" dirty="0"/>
          </a:p>
          <a:p>
            <a:pPr marL="342900" indent="-342900">
              <a:spcAft>
                <a:spcPts val="600"/>
              </a:spcAft>
              <a:buSzPct val="100000"/>
              <a:buChar char="•"/>
            </a:pPr>
            <a:r>
              <a:rPr lang="en-US" sz="1200" dirty="0">
                <a:solidFill>
                  <a:srgbClr val="E6F0ED"/>
                </a:solidFill>
                <a:latin typeface="Calibri" pitchFamily="34" charset="0"/>
                <a:ea typeface="Calibri" pitchFamily="34" charset="-122"/>
                <a:cs typeface="Calibri" pitchFamily="34" charset="-120"/>
              </a:rPr>
              <a:t>Operating cost ≈ 2.8% of what is lent each year.</a:t>
            </a:r>
            <a:endParaRPr lang="en-US" sz="1200" dirty="0"/>
          </a:p>
          <a:p>
            <a:pPr marL="342900" indent="-342900">
              <a:buSzPct val="100000"/>
              <a:buChar char="•"/>
            </a:pPr>
            <a:r>
              <a:rPr lang="en-US" sz="1200" dirty="0">
                <a:solidFill>
                  <a:srgbClr val="E6F0ED"/>
                </a:solidFill>
                <a:latin typeface="Calibri" pitchFamily="34" charset="0"/>
                <a:ea typeface="Calibri" pitchFamily="34" charset="-122"/>
                <a:cs typeface="Calibri" pitchFamily="34" charset="-120"/>
              </a:rPr>
              <a:t>Grows by hiring.</a:t>
            </a:r>
            <a:endParaRPr lang="en-US" sz="1200" dirty="0"/>
          </a:p>
        </p:txBody>
      </p:sp>
      <p:sp>
        <p:nvSpPr>
          <p:cNvPr id="7" name="Text 5"/>
          <p:cNvSpPr txBox="1"/>
          <p:nvPr/>
        </p:nvSpPr>
        <p:spPr>
          <a:xfrm>
            <a:off x="4983480" y="1783080"/>
            <a:ext cx="338328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AI-native lender</a:t>
            </a:r>
            <a:endParaRPr lang="en-US" sz="1600" dirty="0"/>
          </a:p>
        </p:txBody>
      </p:sp>
      <p:sp>
        <p:nvSpPr>
          <p:cNvPr id="8" name="Text 6"/>
          <p:cNvSpPr txBox="1"/>
          <p:nvPr/>
        </p:nvSpPr>
        <p:spPr>
          <a:xfrm>
            <a:off x="4983480" y="2194560"/>
            <a:ext cx="3383280" cy="21488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Agents read, reconcile, chase and draft. People decide.</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8× the capacity: 120–200 live deals per underwriter.</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Every £19m of book needs another employee.</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Operating cost ≈ 0.7% of what is lent each year.</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Grows by compute.</a:t>
            </a:r>
            <a:endParaRPr lang="en-US" sz="1200" dirty="0"/>
          </a:p>
        </p:txBody>
      </p:sp>
      <p:sp>
        <p:nvSpPr>
          <p:cNvPr id="10" name="Text 7"/>
          <p:cNvSpPr txBox="1"/>
          <p:nvPr/>
        </p:nvSpPr>
        <p:spPr>
          <a:xfrm>
            <a:off x="548640" y="4526280"/>
            <a:ext cx="8046720" cy="320040"/>
          </a:xfrm>
          <a:prstGeom prst="rect">
            <a:avLst/>
          </a:prstGeom>
          <a:noFill/>
          <a:ln/>
        </p:spPr>
        <p:txBody>
          <a:bodyPr wrap="square" lIns="0" tIns="0" rIns="0" bIns="0" rtlCol="0" anchor="ctr"/>
          <a:lstStyle/>
          <a:p>
            <a:pPr indent="0" marL="0">
              <a:buNone/>
            </a:pPr>
            <a:r>
              <a:rPr lang="en-US" sz="950" dirty="0">
                <a:solidFill>
                  <a:srgbClr val="9FBFB8"/>
                </a:solidFill>
                <a:latin typeface="Calibri" pitchFamily="34" charset="0"/>
                <a:ea typeface="Calibri" pitchFamily="34" charset="-122"/>
                <a:cs typeface="Calibri" pitchFamily="34" charset="-120"/>
              </a:rPr>
              <a:t>Figures from the Verdigris economics model — a £150m book, 181 loans a year, identical pricing and funding on both sides. 8× = 12 hours per case today ÷ 1.5 hours of review.</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The worked example: 'Northgate Bridging', a composite £150m lender</a:t>
            </a:r>
            <a:endParaRPr lang="en-US" sz="2400" dirty="0"/>
          </a:p>
        </p:txBody>
      </p:sp>
      <p:sp>
        <p:nvSpPr>
          <p:cNvPr id="3" name="Text 1"/>
          <p:cNvSpPr txBox="1"/>
          <p:nvPr/>
        </p:nvSpPr>
        <p:spPr>
          <a:xfrm>
            <a:off x="457200" y="1078992"/>
            <a:ext cx="8229600" cy="384048"/>
          </a:xfrm>
          <a:prstGeom prst="rect">
            <a:avLst/>
          </a:prstGeom>
          <a:noFill/>
          <a:ln/>
        </p:spPr>
        <p:txBody>
          <a:bodyPr wrap="square" lIns="0" tIns="0" rIns="0" bIns="0" rtlCol="0" anchor="t"/>
          <a:lstStyle/>
          <a:p>
            <a:pPr indent="0" marL="0">
              <a:buNone/>
            </a:pPr>
            <a:r>
              <a:rPr lang="en-US" sz="1100" dirty="0">
                <a:solidFill>
                  <a:srgbClr val="6B7674"/>
                </a:solidFill>
                <a:latin typeface="Calibri" pitchFamily="34" charset="0"/>
                <a:ea typeface="Calibri" pitchFamily="34" charset="-122"/>
                <a:cs typeface="Calibri" pitchFamily="34" charset="-120"/>
              </a:rPr>
              <a:t>Fictional but built from real numbers: 37 staff at 2025–26 London salaries, market pricing, institutional funding at 95% advance.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8229600" cy="914400"/>
        </p:xfrm>
        <a:graphic>
          <a:graphicData uri="http://schemas.openxmlformats.org/drawingml/2006/table">
            <a:tbl>
              <a:tblPr/>
              <a:tblGrid>
                <a:gridCol w="3383280"/>
                <a:gridCol w="1005840"/>
                <a:gridCol w="3840480"/>
              </a:tblGrid>
              <a:tr h="31089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 per year</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4E48"/>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Northgate</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4E48"/>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How</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4E48"/>
                    </a:solidFill>
                  </a:tcPr>
                </a:tc>
              </a:tr>
              <a:tr h="310896">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Gross interest income</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£16.2m</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£150m book × 0.90%/month</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10896">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Less cost of funds</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(£12.5m)</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95% partner-funded at 8.75% pa</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10896">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Fees retained (arrangement, admin, drawdown, redemption)</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£1.9m</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2% fee mostly paid away to introducers; ~£3k of fees per loan</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10896">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Less partner fees and expected losses</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(£0.8m)</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£500 per deal; 0.5% of book</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10896">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Net revenue</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F0ED"/>
                    </a:solidFill>
                  </a:tcPr>
                </a:tc>
                <a:tc>
                  <a:txBody>
                    <a:bodyPr/>
                    <a:lstStyle/>
                    <a:p>
                      <a:pPr algn="r" indent="0" marL="0">
                        <a:buNone/>
                      </a:pPr>
                      <a:r>
                        <a:rPr lang="en-US" sz="1000" b="1" dirty="0">
                          <a:solidFill>
                            <a:srgbClr val="2B2B2B"/>
                          </a:solidFill>
                          <a:latin typeface="Calibri" pitchFamily="34" charset="0"/>
                          <a:ea typeface="Calibri" pitchFamily="34" charset="-122"/>
                          <a:cs typeface="Calibri" pitchFamily="34" charset="-120"/>
                        </a:rPr>
                        <a:t>£4.8m</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F0ED"/>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3.3% of book — what has to pay for the business</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F0ED"/>
                    </a:solidFill>
                  </a:tcPr>
                </a:tc>
              </a:tr>
              <a:tr h="310896">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People, fully loaded (37 FTE)</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(£3.6m)</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Salaries + 15% NI + pension + on-costs</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10896">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Office, software, data searches</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(£0.5m)</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£9.6k per desk; £50 of searches per case</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10896">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Operating profit</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F0ED"/>
                    </a:solidFill>
                  </a:tcPr>
                </a:tc>
                <a:tc>
                  <a:txBody>
                    <a:bodyPr/>
                    <a:lstStyle/>
                    <a:p>
                      <a:pPr algn="r" indent="0" marL="0">
                        <a:buNone/>
                      </a:pPr>
                      <a:r>
                        <a:rPr lang="en-US" sz="1000" b="1" dirty="0">
                          <a:solidFill>
                            <a:srgbClr val="2B2B2B"/>
                          </a:solidFill>
                          <a:latin typeface="Calibri" pitchFamily="34" charset="0"/>
                          <a:ea typeface="Calibri" pitchFamily="34" charset="-122"/>
                          <a:cs typeface="Calibri" pitchFamily="34" charset="-120"/>
                        </a:rPr>
                        <a:t>£0.7m</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F0ED"/>
                    </a:solidFill>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14% margin. £22,900 to originate each loan.</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6F0ED"/>
                    </a:solidFill>
                  </a:tcPr>
                </a:tc>
              </a:tr>
            </a:tbl>
          </a:graphicData>
        </a:graphic>
      </p:graphicFrame>
      <p:sp>
        <p:nvSpPr>
          <p:cNvPr id="5" name="Text 2"/>
          <p:cNvSpPr txBox="1"/>
          <p:nvPr/>
        </p:nvSpPr>
        <p:spPr>
          <a:xfrm>
            <a:off x="457200" y="4343400"/>
            <a:ext cx="8229600" cy="411480"/>
          </a:xfrm>
          <a:prstGeom prst="rect">
            <a:avLst/>
          </a:prstGeom>
          <a:noFill/>
          <a:ln/>
        </p:spPr>
        <p:txBody>
          <a:bodyPr wrap="square" lIns="0" tIns="0" rIns="0" bIns="0" rtlCol="0" anchor="t"/>
          <a:lstStyle/>
          <a:p>
            <a:pPr indent="0" marL="0">
              <a:buNone/>
            </a:pPr>
            <a:r>
              <a:rPr lang="en-US" sz="1000" i="1" dirty="0">
                <a:solidFill>
                  <a:srgbClr val="6B7674"/>
                </a:solidFill>
                <a:latin typeface="Calibri" pitchFamily="34" charset="0"/>
                <a:ea typeface="Calibri" pitchFamily="34" charset="-122"/>
                <a:cs typeface="Calibri" pitchFamily="34" charset="-120"/>
              </a:rPr>
              <a:t>The example deal in a lender's own calculator returns 4.6% gross margin on facility over 18 months. Almost all of it goes on the people who process the file.</a:t>
            </a:r>
            <a:endParaRPr lang="en-US" sz="1000" dirty="0"/>
          </a:p>
        </p:txBody>
      </p:sp>
      <p:sp>
        <p:nvSpPr>
          <p:cNvPr id="6" name="Text 3"/>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7"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The same £150m book, run by 8 people instead of 37</a:t>
            </a:r>
            <a:endParaRPr lang="en-US" sz="2400" dirty="0"/>
          </a:p>
        </p:txBody>
      </p:sp>
      <p:graphicFrame>
        <p:nvGraphicFramePr>
          <p:cNvPr id="3" name="Chart 0" descr=""/>
          <p:cNvGraphicFramePr/>
          <p:nvPr/>
        </p:nvGraphicFramePr>
        <p:xfrm>
          <a:off x="457200" y="118872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143000"/>
            <a:ext cx="2926080" cy="685800"/>
          </a:xfrm>
          <a:prstGeom prst="rect">
            <a:avLst/>
          </a:prstGeom>
          <a:noFill/>
          <a:ln/>
        </p:spPr>
        <p:txBody>
          <a:bodyPr wrap="square" lIns="0" tIns="0" rIns="0" bIns="0" rtlCol="0" anchor="b"/>
          <a:lstStyle/>
          <a:p>
            <a:pPr indent="0" marL="0">
              <a:buNone/>
            </a:pPr>
            <a:r>
              <a:rPr lang="en-US" sz="3600" b="1" dirty="0">
                <a:solidFill>
                  <a:srgbClr val="B87333"/>
                </a:solidFill>
                <a:latin typeface="Cambria" pitchFamily="34" charset="0"/>
                <a:ea typeface="Cambria" pitchFamily="34" charset="-122"/>
                <a:cs typeface="Cambria" pitchFamily="34" charset="-120"/>
              </a:rPr>
              <a:t>4.1×</a:t>
            </a:r>
            <a:endParaRPr lang="en-US" sz="3600" dirty="0"/>
          </a:p>
        </p:txBody>
      </p:sp>
      <p:sp>
        <p:nvSpPr>
          <p:cNvPr id="5" name="Text 2"/>
          <p:cNvSpPr txBox="1"/>
          <p:nvPr/>
        </p:nvSpPr>
        <p:spPr>
          <a:xfrm>
            <a:off x="5760720" y="1856232"/>
            <a:ext cx="2926080" cy="502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lower operating cost for the same loans</a:t>
            </a:r>
            <a:endParaRPr lang="en-US" sz="1100" dirty="0"/>
          </a:p>
        </p:txBody>
      </p:sp>
      <p:sp>
        <p:nvSpPr>
          <p:cNvPr id="6" name="Text 3"/>
          <p:cNvSpPr txBox="1"/>
          <p:nvPr/>
        </p:nvSpPr>
        <p:spPr>
          <a:xfrm>
            <a:off x="5760720" y="2423160"/>
            <a:ext cx="2926080" cy="685800"/>
          </a:xfrm>
          <a:prstGeom prst="rect">
            <a:avLst/>
          </a:prstGeom>
          <a:noFill/>
          <a:ln/>
        </p:spPr>
        <p:txBody>
          <a:bodyPr wrap="square" lIns="0" tIns="0" rIns="0" bIns="0" rtlCol="0" anchor="b"/>
          <a:lstStyle/>
          <a:p>
            <a:pPr indent="0" marL="0">
              <a:buNone/>
            </a:pPr>
            <a:r>
              <a:rPr lang="en-US" sz="3600" b="1" dirty="0">
                <a:solidFill>
                  <a:srgbClr val="2E8B7A"/>
                </a:solidFill>
                <a:latin typeface="Cambria" pitchFamily="34" charset="0"/>
                <a:ea typeface="Cambria" pitchFamily="34" charset="-122"/>
                <a:cs typeface="Cambria" pitchFamily="34" charset="-120"/>
              </a:rPr>
              <a:t>£5,600</a:t>
            </a:r>
            <a:endParaRPr lang="en-US" sz="3600" dirty="0"/>
          </a:p>
        </p:txBody>
      </p:sp>
      <p:sp>
        <p:nvSpPr>
          <p:cNvPr id="7" name="Text 4"/>
          <p:cNvSpPr txBox="1"/>
          <p:nvPr/>
        </p:nvSpPr>
        <p:spPr>
          <a:xfrm>
            <a:off x="5760720" y="3136392"/>
            <a:ext cx="2926080" cy="502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to originate each loan, versus £22,900</a:t>
            </a:r>
            <a:endParaRPr lang="en-US" sz="1100" dirty="0"/>
          </a:p>
        </p:txBody>
      </p:sp>
      <p:sp>
        <p:nvSpPr>
          <p:cNvPr id="8" name="Text 5"/>
          <p:cNvSpPr txBox="1"/>
          <p:nvPr/>
        </p:nvSpPr>
        <p:spPr>
          <a:xfrm>
            <a:off x="5760720" y="3703320"/>
            <a:ext cx="2926080" cy="685800"/>
          </a:xfrm>
          <a:prstGeom prst="rect">
            <a:avLst/>
          </a:prstGeom>
          <a:noFill/>
          <a:ln/>
        </p:spPr>
        <p:txBody>
          <a:bodyPr wrap="square" lIns="0" tIns="0" rIns="0" bIns="0" rtlCol="0" anchor="b"/>
          <a:lstStyle/>
          <a:p>
            <a:pPr indent="0" marL="0">
              <a:buNone/>
            </a:pPr>
            <a:r>
              <a:rPr lang="en-US" sz="3600" b="1" dirty="0">
                <a:solidFill>
                  <a:srgbClr val="2E8B7A"/>
                </a:solidFill>
                <a:latin typeface="Cambria" pitchFamily="34" charset="0"/>
                <a:ea typeface="Cambria" pitchFamily="34" charset="-122"/>
                <a:cs typeface="Cambria" pitchFamily="34" charset="-120"/>
              </a:rPr>
              <a:t>79%</a:t>
            </a:r>
            <a:endParaRPr lang="en-US" sz="3600" dirty="0"/>
          </a:p>
        </p:txBody>
      </p:sp>
      <p:sp>
        <p:nvSpPr>
          <p:cNvPr id="9" name="Text 6"/>
          <p:cNvSpPr txBox="1"/>
          <p:nvPr/>
        </p:nvSpPr>
        <p:spPr>
          <a:xfrm>
            <a:off x="5760720" y="4416552"/>
            <a:ext cx="2926080" cy="502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operating margin, versus 14%</a:t>
            </a:r>
            <a:endParaRPr lang="en-US" sz="1100" dirty="0"/>
          </a:p>
        </p:txBody>
      </p:sp>
      <p:sp>
        <p:nvSpPr>
          <p:cNvPr id="10" name="Text 7"/>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11" name="Text 8"/>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Traditional lenders scale by hiring. Verdigris scales by compute.</a:t>
            </a:r>
            <a:endParaRPr lang="en-US" sz="2400" dirty="0"/>
          </a:p>
        </p:txBody>
      </p:sp>
      <p:graphicFrame>
        <p:nvGraphicFramePr>
          <p:cNvPr id="3" name="Chart 0" descr=""/>
          <p:cNvGraphicFramePr/>
          <p:nvPr/>
        </p:nvGraphicFramePr>
        <p:xfrm>
          <a:off x="457200" y="1188720"/>
          <a:ext cx="402336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188720"/>
          <a:ext cx="4023360" cy="310896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389120"/>
            <a:ext cx="8229600" cy="36576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At £600m of book the gap is 116 people and £11m of profit a year. The AI-native model adds one underwriter per £75m and one BDM per £150m; everything else is compute.</a:t>
            </a:r>
            <a:endParaRPr lang="en-US" sz="1050" dirty="0"/>
          </a:p>
        </p:txBody>
      </p:sp>
      <p:sp>
        <p:nvSpPr>
          <p:cNvPr id="6"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7" name="Text 3"/>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The product: agents hold every file, the underwriter decides</a:t>
            </a:r>
            <a:endParaRPr lang="en-US" sz="2400" dirty="0"/>
          </a:p>
        </p:txBody>
      </p:sp>
      <p:sp>
        <p:nvSpPr>
          <p:cNvPr id="3" name="Shape 1"/>
          <p:cNvSpPr/>
          <p:nvPr/>
        </p:nvSpPr>
        <p:spPr>
          <a:xfrm>
            <a:off x="457200" y="1188720"/>
            <a:ext cx="1325880" cy="1874520"/>
          </a:xfrm>
          <a:prstGeom prst="roundRect">
            <a:avLst>
              <a:gd name="adj" fmla="val 5517"/>
            </a:avLst>
          </a:prstGeom>
          <a:solidFill>
            <a:srgbClr val="E6F0ED"/>
          </a:solidFill>
          <a:ln w="12700">
            <a:solidFill>
              <a:srgbClr val="E6F0ED"/>
            </a:solidFill>
            <a:prstDash val="solid"/>
          </a:ln>
        </p:spPr>
      </p:sp>
      <p:sp>
        <p:nvSpPr>
          <p:cNvPr id="4" name="Shape 2"/>
          <p:cNvSpPr/>
          <p:nvPr/>
        </p:nvSpPr>
        <p:spPr>
          <a:xfrm>
            <a:off x="566928" y="1298448"/>
            <a:ext cx="384048" cy="384048"/>
          </a:xfrm>
          <a:prstGeom prst="ellipse">
            <a:avLst/>
          </a:prstGeom>
          <a:solidFill>
            <a:srgbClr val="2E8B7A"/>
          </a:solidFill>
          <a:ln w="12700">
            <a:solidFill>
              <a:srgbClr val="2E8B7A"/>
            </a:solidFill>
            <a:prstDash val="solid"/>
          </a:ln>
        </p:spPr>
      </p:sp>
      <p:sp>
        <p:nvSpPr>
          <p:cNvPr id="5" name="Text 3"/>
          <p:cNvSpPr txBox="1"/>
          <p:nvPr/>
        </p:nvSpPr>
        <p:spPr>
          <a:xfrm>
            <a:off x="566928" y="1298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566928" y="1737360"/>
            <a:ext cx="1106424" cy="320040"/>
          </a:xfrm>
          <a:prstGeom prst="rect">
            <a:avLst/>
          </a:prstGeom>
          <a:noFill/>
          <a:ln/>
        </p:spPr>
        <p:txBody>
          <a:bodyPr wrap="square" lIns="0" tIns="0" rIns="0" bIns="0" rtlCol="0" anchor="ctr"/>
          <a:lstStyle/>
          <a:p>
            <a:pPr indent="0" marL="0">
              <a:buNone/>
            </a:pPr>
            <a:r>
              <a:rPr lang="en-US" sz="1400" b="1" dirty="0">
                <a:solidFill>
                  <a:srgbClr val="1F4E48"/>
                </a:solidFill>
                <a:latin typeface="Cambria" pitchFamily="34" charset="0"/>
                <a:ea typeface="Cambria" pitchFamily="34" charset="-122"/>
                <a:cs typeface="Cambria" pitchFamily="34" charset="-120"/>
              </a:rPr>
              <a:t>Ingest</a:t>
            </a:r>
            <a:endParaRPr lang="en-US" sz="1400" dirty="0"/>
          </a:p>
        </p:txBody>
      </p:sp>
      <p:sp>
        <p:nvSpPr>
          <p:cNvPr id="7" name="Text 5"/>
          <p:cNvSpPr txBox="1"/>
          <p:nvPr/>
        </p:nvSpPr>
        <p:spPr>
          <a:xfrm>
            <a:off x="566928" y="2057400"/>
            <a:ext cx="1106424" cy="960120"/>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Application, valuation, surveyor report, title, ID, bank statements</a:t>
            </a:r>
            <a:endParaRPr lang="en-US" sz="950" dirty="0"/>
          </a:p>
        </p:txBody>
      </p:sp>
      <p:sp>
        <p:nvSpPr>
          <p:cNvPr id="8" name="Shape 6"/>
          <p:cNvSpPr/>
          <p:nvPr/>
        </p:nvSpPr>
        <p:spPr>
          <a:xfrm>
            <a:off x="1837944" y="1188720"/>
            <a:ext cx="1325880" cy="1874520"/>
          </a:xfrm>
          <a:prstGeom prst="roundRect">
            <a:avLst>
              <a:gd name="adj" fmla="val 5517"/>
            </a:avLst>
          </a:prstGeom>
          <a:solidFill>
            <a:srgbClr val="E6F0ED"/>
          </a:solidFill>
          <a:ln w="12700">
            <a:solidFill>
              <a:srgbClr val="E6F0ED"/>
            </a:solidFill>
            <a:prstDash val="solid"/>
          </a:ln>
        </p:spPr>
      </p:sp>
      <p:sp>
        <p:nvSpPr>
          <p:cNvPr id="9" name="Shape 7"/>
          <p:cNvSpPr/>
          <p:nvPr/>
        </p:nvSpPr>
        <p:spPr>
          <a:xfrm>
            <a:off x="1947672" y="1298448"/>
            <a:ext cx="384048" cy="384048"/>
          </a:xfrm>
          <a:prstGeom prst="ellipse">
            <a:avLst/>
          </a:prstGeom>
          <a:solidFill>
            <a:srgbClr val="2E8B7A"/>
          </a:solidFill>
          <a:ln w="12700">
            <a:solidFill>
              <a:srgbClr val="2E8B7A"/>
            </a:solidFill>
            <a:prstDash val="solid"/>
          </a:ln>
        </p:spPr>
      </p:sp>
      <p:sp>
        <p:nvSpPr>
          <p:cNvPr id="10" name="Text 8"/>
          <p:cNvSpPr txBox="1"/>
          <p:nvPr/>
        </p:nvSpPr>
        <p:spPr>
          <a:xfrm>
            <a:off x="1947672" y="1298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947672" y="1737360"/>
            <a:ext cx="1106424" cy="320040"/>
          </a:xfrm>
          <a:prstGeom prst="rect">
            <a:avLst/>
          </a:prstGeom>
          <a:noFill/>
          <a:ln/>
        </p:spPr>
        <p:txBody>
          <a:bodyPr wrap="square" lIns="0" tIns="0" rIns="0" bIns="0" rtlCol="0" anchor="ctr"/>
          <a:lstStyle/>
          <a:p>
            <a:pPr indent="0" marL="0">
              <a:buNone/>
            </a:pPr>
            <a:r>
              <a:rPr lang="en-US" sz="1400" b="1" dirty="0">
                <a:solidFill>
                  <a:srgbClr val="1F4E48"/>
                </a:solidFill>
                <a:latin typeface="Cambria" pitchFamily="34" charset="0"/>
                <a:ea typeface="Cambria" pitchFamily="34" charset="-122"/>
                <a:cs typeface="Cambria" pitchFamily="34" charset="-120"/>
              </a:rPr>
              <a:t>Extract</a:t>
            </a:r>
            <a:endParaRPr lang="en-US" sz="1400" dirty="0"/>
          </a:p>
        </p:txBody>
      </p:sp>
      <p:sp>
        <p:nvSpPr>
          <p:cNvPr id="12" name="Text 10"/>
          <p:cNvSpPr txBox="1"/>
          <p:nvPr/>
        </p:nvSpPr>
        <p:spPr>
          <a:xfrm>
            <a:off x="1947672" y="2057400"/>
            <a:ext cx="1106424" cy="960120"/>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Every number and claim, with its page reference</a:t>
            </a:r>
            <a:endParaRPr lang="en-US" sz="950" dirty="0"/>
          </a:p>
        </p:txBody>
      </p:sp>
      <p:sp>
        <p:nvSpPr>
          <p:cNvPr id="13" name="Shape 11"/>
          <p:cNvSpPr/>
          <p:nvPr/>
        </p:nvSpPr>
        <p:spPr>
          <a:xfrm>
            <a:off x="3218688" y="1188720"/>
            <a:ext cx="1325880" cy="1874520"/>
          </a:xfrm>
          <a:prstGeom prst="roundRect">
            <a:avLst>
              <a:gd name="adj" fmla="val 5517"/>
            </a:avLst>
          </a:prstGeom>
          <a:solidFill>
            <a:srgbClr val="E6F0ED"/>
          </a:solidFill>
          <a:ln w="12700">
            <a:solidFill>
              <a:srgbClr val="E6F0ED"/>
            </a:solidFill>
            <a:prstDash val="solid"/>
          </a:ln>
        </p:spPr>
      </p:sp>
      <p:sp>
        <p:nvSpPr>
          <p:cNvPr id="14" name="Shape 12"/>
          <p:cNvSpPr/>
          <p:nvPr/>
        </p:nvSpPr>
        <p:spPr>
          <a:xfrm>
            <a:off x="3328416" y="1298448"/>
            <a:ext cx="384048" cy="384048"/>
          </a:xfrm>
          <a:prstGeom prst="ellipse">
            <a:avLst/>
          </a:prstGeom>
          <a:solidFill>
            <a:srgbClr val="2E8B7A"/>
          </a:solidFill>
          <a:ln w="12700">
            <a:solidFill>
              <a:srgbClr val="2E8B7A"/>
            </a:solidFill>
            <a:prstDash val="solid"/>
          </a:ln>
        </p:spPr>
      </p:sp>
      <p:sp>
        <p:nvSpPr>
          <p:cNvPr id="15" name="Text 13"/>
          <p:cNvSpPr txBox="1"/>
          <p:nvPr/>
        </p:nvSpPr>
        <p:spPr>
          <a:xfrm>
            <a:off x="3328416" y="1298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3328416" y="1737360"/>
            <a:ext cx="1106424" cy="320040"/>
          </a:xfrm>
          <a:prstGeom prst="rect">
            <a:avLst/>
          </a:prstGeom>
          <a:noFill/>
          <a:ln/>
        </p:spPr>
        <p:txBody>
          <a:bodyPr wrap="square" lIns="0" tIns="0" rIns="0" bIns="0" rtlCol="0" anchor="ctr"/>
          <a:lstStyle/>
          <a:p>
            <a:pPr indent="0" marL="0">
              <a:buNone/>
            </a:pPr>
            <a:r>
              <a:rPr lang="en-US" sz="1400" b="1" dirty="0">
                <a:solidFill>
                  <a:srgbClr val="1F4E48"/>
                </a:solidFill>
                <a:latin typeface="Cambria" pitchFamily="34" charset="0"/>
                <a:ea typeface="Cambria" pitchFamily="34" charset="-122"/>
                <a:cs typeface="Cambria" pitchFamily="34" charset="-120"/>
              </a:rPr>
              <a:t>Reconcile</a:t>
            </a:r>
            <a:endParaRPr lang="en-US" sz="1400" dirty="0"/>
          </a:p>
        </p:txBody>
      </p:sp>
      <p:sp>
        <p:nvSpPr>
          <p:cNvPr id="17" name="Text 15"/>
          <p:cNvSpPr txBox="1"/>
          <p:nvPr/>
        </p:nvSpPr>
        <p:spPr>
          <a:xfrm>
            <a:off x="3328416" y="2057400"/>
            <a:ext cx="1106424" cy="960120"/>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Valuer vs surveyor vs borrower: where they disagree; stale comps, weak exits</a:t>
            </a:r>
            <a:endParaRPr lang="en-US" sz="950" dirty="0"/>
          </a:p>
        </p:txBody>
      </p:sp>
      <p:sp>
        <p:nvSpPr>
          <p:cNvPr id="18" name="Shape 16"/>
          <p:cNvSpPr/>
          <p:nvPr/>
        </p:nvSpPr>
        <p:spPr>
          <a:xfrm>
            <a:off x="4599432" y="1188720"/>
            <a:ext cx="1325880" cy="1874520"/>
          </a:xfrm>
          <a:prstGeom prst="roundRect">
            <a:avLst>
              <a:gd name="adj" fmla="val 5517"/>
            </a:avLst>
          </a:prstGeom>
          <a:solidFill>
            <a:srgbClr val="E6F0ED"/>
          </a:solidFill>
          <a:ln w="12700">
            <a:solidFill>
              <a:srgbClr val="E6F0ED"/>
            </a:solidFill>
            <a:prstDash val="solid"/>
          </a:ln>
        </p:spPr>
      </p:sp>
      <p:sp>
        <p:nvSpPr>
          <p:cNvPr id="19" name="Shape 17"/>
          <p:cNvSpPr/>
          <p:nvPr/>
        </p:nvSpPr>
        <p:spPr>
          <a:xfrm>
            <a:off x="4709160" y="1298448"/>
            <a:ext cx="384048" cy="384048"/>
          </a:xfrm>
          <a:prstGeom prst="ellipse">
            <a:avLst/>
          </a:prstGeom>
          <a:solidFill>
            <a:srgbClr val="2E8B7A"/>
          </a:solidFill>
          <a:ln w="12700">
            <a:solidFill>
              <a:srgbClr val="2E8B7A"/>
            </a:solidFill>
            <a:prstDash val="solid"/>
          </a:ln>
        </p:spPr>
      </p:sp>
      <p:sp>
        <p:nvSpPr>
          <p:cNvPr id="20" name="Text 18"/>
          <p:cNvSpPr txBox="1"/>
          <p:nvPr/>
        </p:nvSpPr>
        <p:spPr>
          <a:xfrm>
            <a:off x="4709160" y="1298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4709160" y="1737360"/>
            <a:ext cx="1106424" cy="320040"/>
          </a:xfrm>
          <a:prstGeom prst="rect">
            <a:avLst/>
          </a:prstGeom>
          <a:noFill/>
          <a:ln/>
        </p:spPr>
        <p:txBody>
          <a:bodyPr wrap="square" lIns="0" tIns="0" rIns="0" bIns="0" rtlCol="0" anchor="ctr"/>
          <a:lstStyle/>
          <a:p>
            <a:pPr indent="0" marL="0">
              <a:buNone/>
            </a:pPr>
            <a:r>
              <a:rPr lang="en-US" sz="1400" b="1" dirty="0">
                <a:solidFill>
                  <a:srgbClr val="1F4E48"/>
                </a:solidFill>
                <a:latin typeface="Cambria" pitchFamily="34" charset="0"/>
                <a:ea typeface="Cambria" pitchFamily="34" charset="-122"/>
                <a:cs typeface="Cambria" pitchFamily="34" charset="-120"/>
              </a:rPr>
              <a:t>Chase</a:t>
            </a:r>
            <a:endParaRPr lang="en-US" sz="1400" dirty="0"/>
          </a:p>
        </p:txBody>
      </p:sp>
      <p:sp>
        <p:nvSpPr>
          <p:cNvPr id="22" name="Text 20"/>
          <p:cNvSpPr txBox="1"/>
          <p:nvPr/>
        </p:nvSpPr>
        <p:spPr>
          <a:xfrm>
            <a:off x="4709160" y="2057400"/>
            <a:ext cx="1106424" cy="960120"/>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Agents chase valuers, surveyors and solicitors, and keep every file moving</a:t>
            </a:r>
            <a:endParaRPr lang="en-US" sz="950" dirty="0"/>
          </a:p>
        </p:txBody>
      </p:sp>
      <p:sp>
        <p:nvSpPr>
          <p:cNvPr id="23" name="Shape 21"/>
          <p:cNvSpPr/>
          <p:nvPr/>
        </p:nvSpPr>
        <p:spPr>
          <a:xfrm>
            <a:off x="5980176" y="1188720"/>
            <a:ext cx="1325880" cy="1874520"/>
          </a:xfrm>
          <a:prstGeom prst="roundRect">
            <a:avLst>
              <a:gd name="adj" fmla="val 5517"/>
            </a:avLst>
          </a:prstGeom>
          <a:solidFill>
            <a:srgbClr val="E6F0ED"/>
          </a:solidFill>
          <a:ln w="12700">
            <a:solidFill>
              <a:srgbClr val="E6F0ED"/>
            </a:solidFill>
            <a:prstDash val="solid"/>
          </a:ln>
        </p:spPr>
      </p:sp>
      <p:sp>
        <p:nvSpPr>
          <p:cNvPr id="24" name="Shape 22"/>
          <p:cNvSpPr/>
          <p:nvPr/>
        </p:nvSpPr>
        <p:spPr>
          <a:xfrm>
            <a:off x="6089904" y="1298448"/>
            <a:ext cx="384048" cy="384048"/>
          </a:xfrm>
          <a:prstGeom prst="ellipse">
            <a:avLst/>
          </a:prstGeom>
          <a:solidFill>
            <a:srgbClr val="2E8B7A"/>
          </a:solidFill>
          <a:ln w="12700">
            <a:solidFill>
              <a:srgbClr val="2E8B7A"/>
            </a:solidFill>
            <a:prstDash val="solid"/>
          </a:ln>
        </p:spPr>
      </p:sp>
      <p:sp>
        <p:nvSpPr>
          <p:cNvPr id="25" name="Text 23"/>
          <p:cNvSpPr txBox="1"/>
          <p:nvPr/>
        </p:nvSpPr>
        <p:spPr>
          <a:xfrm>
            <a:off x="6089904" y="1298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6089904" y="1737360"/>
            <a:ext cx="1106424" cy="320040"/>
          </a:xfrm>
          <a:prstGeom prst="rect">
            <a:avLst/>
          </a:prstGeom>
          <a:noFill/>
          <a:ln/>
        </p:spPr>
        <p:txBody>
          <a:bodyPr wrap="square" lIns="0" tIns="0" rIns="0" bIns="0" rtlCol="0" anchor="ctr"/>
          <a:lstStyle/>
          <a:p>
            <a:pPr indent="0" marL="0">
              <a:buNone/>
            </a:pPr>
            <a:r>
              <a:rPr lang="en-US" sz="1400" b="1" dirty="0">
                <a:solidFill>
                  <a:srgbClr val="1F4E48"/>
                </a:solidFill>
                <a:latin typeface="Cambria" pitchFamily="34" charset="0"/>
                <a:ea typeface="Cambria" pitchFamily="34" charset="-122"/>
                <a:cs typeface="Cambria" pitchFamily="34" charset="-120"/>
              </a:rPr>
              <a:t>Draft</a:t>
            </a:r>
            <a:endParaRPr lang="en-US" sz="1400" dirty="0"/>
          </a:p>
        </p:txBody>
      </p:sp>
      <p:sp>
        <p:nvSpPr>
          <p:cNvPr id="27" name="Text 25"/>
          <p:cNvSpPr txBox="1"/>
          <p:nvPr/>
        </p:nvSpPr>
        <p:spPr>
          <a:xfrm>
            <a:off x="6089904" y="2057400"/>
            <a:ext cx="1106424" cy="960120"/>
          </a:xfrm>
          <a:prstGeom prst="rect">
            <a:avLst/>
          </a:prstGeom>
          <a:noFill/>
          <a:ln/>
        </p:spPr>
        <p:txBody>
          <a:bodyPr wrap="square" lIns="0" tIns="0" rIns="0" bIns="0" rtlCol="0" anchor="t"/>
          <a:lstStyle/>
          <a:p>
            <a:pPr indent="0" marL="0">
              <a:buNone/>
            </a:pPr>
            <a:r>
              <a:rPr lang="en-US" sz="950" dirty="0">
                <a:solidFill>
                  <a:srgbClr val="2B2B2B"/>
                </a:solidFill>
                <a:latin typeface="Calibri" pitchFamily="34" charset="0"/>
                <a:ea typeface="Calibri" pitchFamily="34" charset="-122"/>
                <a:cs typeface="Calibri" pitchFamily="34" charset="-120"/>
              </a:rPr>
              <a:t>Credit paper in the lender's own format: metrics, SWOT, risks, mitigants</a:t>
            </a:r>
            <a:endParaRPr lang="en-US" sz="950" dirty="0"/>
          </a:p>
        </p:txBody>
      </p:sp>
      <p:sp>
        <p:nvSpPr>
          <p:cNvPr id="28" name="Shape 26"/>
          <p:cNvSpPr/>
          <p:nvPr/>
        </p:nvSpPr>
        <p:spPr>
          <a:xfrm>
            <a:off x="7360920" y="1188720"/>
            <a:ext cx="1325880" cy="1874520"/>
          </a:xfrm>
          <a:prstGeom prst="roundRect">
            <a:avLst>
              <a:gd name="adj" fmla="val 5517"/>
            </a:avLst>
          </a:prstGeom>
          <a:solidFill>
            <a:srgbClr val="B87333"/>
          </a:solidFill>
          <a:ln w="12700">
            <a:solidFill>
              <a:srgbClr val="B87333"/>
            </a:solidFill>
            <a:prstDash val="solid"/>
          </a:ln>
        </p:spPr>
      </p:sp>
      <p:sp>
        <p:nvSpPr>
          <p:cNvPr id="29" name="Shape 27"/>
          <p:cNvSpPr/>
          <p:nvPr/>
        </p:nvSpPr>
        <p:spPr>
          <a:xfrm>
            <a:off x="7470648" y="1298448"/>
            <a:ext cx="384048" cy="384048"/>
          </a:xfrm>
          <a:prstGeom prst="ellipse">
            <a:avLst/>
          </a:prstGeom>
          <a:solidFill>
            <a:srgbClr val="FFFFFF"/>
          </a:solidFill>
          <a:ln w="12700">
            <a:solidFill>
              <a:srgbClr val="FFFFFF"/>
            </a:solidFill>
            <a:prstDash val="solid"/>
          </a:ln>
        </p:spPr>
      </p:sp>
      <p:sp>
        <p:nvSpPr>
          <p:cNvPr id="30" name="Text 28"/>
          <p:cNvSpPr txBox="1"/>
          <p:nvPr/>
        </p:nvSpPr>
        <p:spPr>
          <a:xfrm>
            <a:off x="7470648" y="1298448"/>
            <a:ext cx="384048" cy="384048"/>
          </a:xfrm>
          <a:prstGeom prst="rect">
            <a:avLst/>
          </a:prstGeom>
          <a:noFill/>
          <a:ln/>
        </p:spPr>
        <p:txBody>
          <a:bodyPr wrap="square" lIns="0" tIns="0" rIns="0" bIns="0" rtlCol="0" anchor="ctr"/>
          <a:lstStyle/>
          <a:p>
            <a:pPr algn="ctr" indent="0" marL="0">
              <a:buNone/>
            </a:pPr>
            <a:r>
              <a:rPr lang="en-US" sz="1300" b="1" dirty="0">
                <a:solidFill>
                  <a:srgbClr val="B87333"/>
                </a:solidFill>
                <a:latin typeface="Calibri" pitchFamily="34" charset="0"/>
                <a:ea typeface="Calibri" pitchFamily="34" charset="-122"/>
                <a:cs typeface="Calibri" pitchFamily="34" charset="-120"/>
              </a:rPr>
              <a:t>6</a:t>
            </a:r>
            <a:endParaRPr lang="en-US" sz="1300" dirty="0"/>
          </a:p>
        </p:txBody>
      </p:sp>
      <p:sp>
        <p:nvSpPr>
          <p:cNvPr id="31" name="Text 29"/>
          <p:cNvSpPr txBox="1"/>
          <p:nvPr/>
        </p:nvSpPr>
        <p:spPr>
          <a:xfrm>
            <a:off x="7470648" y="1737360"/>
            <a:ext cx="1106424"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Decide</a:t>
            </a:r>
            <a:endParaRPr lang="en-US" sz="1400" dirty="0"/>
          </a:p>
        </p:txBody>
      </p:sp>
      <p:sp>
        <p:nvSpPr>
          <p:cNvPr id="32" name="Text 30"/>
          <p:cNvSpPr txBox="1"/>
          <p:nvPr/>
        </p:nvSpPr>
        <p:spPr>
          <a:xfrm>
            <a:off x="7470648" y="2057400"/>
            <a:ext cx="1106424" cy="96012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A human underwriter reviews, challenges and signs. Always.</a:t>
            </a:r>
            <a:endParaRPr lang="en-US" sz="950" dirty="0"/>
          </a:p>
        </p:txBody>
      </p:sp>
      <p:sp>
        <p:nvSpPr>
          <p:cNvPr id="33" name="Shape 31"/>
          <p:cNvSpPr/>
          <p:nvPr/>
        </p:nvSpPr>
        <p:spPr>
          <a:xfrm>
            <a:off x="457200" y="3291840"/>
            <a:ext cx="4023360" cy="1325880"/>
          </a:xfrm>
          <a:prstGeom prst="roundRect">
            <a:avLst>
              <a:gd name="adj" fmla="val 5517"/>
            </a:avLst>
          </a:prstGeom>
          <a:solidFill>
            <a:srgbClr val="E6F0ED"/>
          </a:solidFill>
          <a:ln w="12700">
            <a:solidFill>
              <a:srgbClr val="E6F0ED"/>
            </a:solidFill>
            <a:prstDash val="solid"/>
          </a:ln>
        </p:spPr>
      </p:sp>
      <p:sp>
        <p:nvSpPr>
          <p:cNvPr id="34" name="Text 32"/>
          <p:cNvSpPr txBox="1"/>
          <p:nvPr/>
        </p:nvSpPr>
        <p:spPr>
          <a:xfrm>
            <a:off x="640080" y="3383280"/>
            <a:ext cx="3657600" cy="274320"/>
          </a:xfrm>
          <a:prstGeom prst="rect">
            <a:avLst/>
          </a:prstGeom>
          <a:noFill/>
          <a:ln/>
        </p:spPr>
        <p:txBody>
          <a:bodyPr wrap="square" lIns="0" tIns="0" rIns="0" bIns="0" rtlCol="0" anchor="t"/>
          <a:lstStyle/>
          <a:p>
            <a:pPr indent="0" marL="0">
              <a:buNone/>
            </a:pPr>
            <a:r>
              <a:rPr lang="en-US" sz="1200" b="1" dirty="0">
                <a:solidFill>
                  <a:srgbClr val="1F4E48"/>
                </a:solidFill>
                <a:latin typeface="Calibri" pitchFamily="34" charset="0"/>
                <a:ea typeface="Calibri" pitchFamily="34" charset="-122"/>
                <a:cs typeface="Calibri" pitchFamily="34" charset="-120"/>
              </a:rPr>
              <a:t>What stays deterministic, never a model output</a:t>
            </a:r>
            <a:endParaRPr lang="en-US" sz="1200" dirty="0"/>
          </a:p>
        </p:txBody>
      </p:sp>
      <p:sp>
        <p:nvSpPr>
          <p:cNvPr id="35" name="Text 33"/>
          <p:cNvSpPr txBox="1"/>
          <p:nvPr/>
        </p:nvSpPr>
        <p:spPr>
          <a:xfrm>
            <a:off x="640080" y="3675888"/>
            <a:ext cx="3657600" cy="91440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2B2B2B"/>
                </a:solidFill>
                <a:latin typeface="Calibri" pitchFamily="34" charset="0"/>
                <a:ea typeface="Calibri" pitchFamily="34" charset="-122"/>
                <a:cs typeface="Calibri" pitchFamily="34" charset="-120"/>
              </a:rPr>
              <a:t>LTV, LTGDV and LTC caps; eligibility gates; rate cards</a:t>
            </a:r>
            <a:endParaRPr lang="en-US" sz="1000" dirty="0"/>
          </a:p>
          <a:p>
            <a:pPr marL="342900" indent="-342900">
              <a:spcAft>
                <a:spcPts val="600"/>
              </a:spcAft>
              <a:buSzPct val="100000"/>
              <a:buChar char="•"/>
            </a:pPr>
            <a:r>
              <a:rPr lang="en-US" sz="1000" dirty="0">
                <a:solidFill>
                  <a:srgbClr val="2B2B2B"/>
                </a:solidFill>
                <a:latin typeface="Calibri" pitchFamily="34" charset="0"/>
                <a:ea typeface="Calibri" pitchFamily="34" charset="-122"/>
                <a:cs typeface="Calibri" pitchFamily="34" charset="-120"/>
              </a:rPr>
              <a:t>Every calculation in the term sheet and the pricing approval</a:t>
            </a:r>
            <a:endParaRPr lang="en-US" sz="1000" dirty="0"/>
          </a:p>
          <a:p>
            <a:pPr marL="342900" indent="-342900">
              <a:spcAft>
                <a:spcPts val="600"/>
              </a:spcAft>
              <a:buSzPct val="100000"/>
              <a:buChar char="•"/>
            </a:pPr>
            <a:r>
              <a:rPr lang="en-US" sz="1000" dirty="0">
                <a:solidFill>
                  <a:srgbClr val="2B2B2B"/>
                </a:solidFill>
                <a:latin typeface="Calibri" pitchFamily="34" charset="0"/>
                <a:ea typeface="Calibri" pitchFamily="34" charset="-122"/>
                <a:cs typeface="Calibri" pitchFamily="34" charset="-120"/>
              </a:rPr>
              <a:t>Who can approve what: credit manager, senior, committee</a:t>
            </a:r>
            <a:endParaRPr lang="en-US" sz="1000" dirty="0"/>
          </a:p>
        </p:txBody>
      </p:sp>
      <p:sp>
        <p:nvSpPr>
          <p:cNvPr id="36" name="Shape 34"/>
          <p:cNvSpPr/>
          <p:nvPr/>
        </p:nvSpPr>
        <p:spPr>
          <a:xfrm>
            <a:off x="4663440" y="3291840"/>
            <a:ext cx="4023360" cy="1325880"/>
          </a:xfrm>
          <a:prstGeom prst="roundRect">
            <a:avLst>
              <a:gd name="adj" fmla="val 5517"/>
            </a:avLst>
          </a:prstGeom>
          <a:solidFill>
            <a:srgbClr val="E6F0ED"/>
          </a:solidFill>
          <a:ln w="12700">
            <a:solidFill>
              <a:srgbClr val="E6F0ED"/>
            </a:solidFill>
            <a:prstDash val="solid"/>
          </a:ln>
        </p:spPr>
      </p:sp>
      <p:sp>
        <p:nvSpPr>
          <p:cNvPr id="37" name="Text 35"/>
          <p:cNvSpPr txBox="1"/>
          <p:nvPr/>
        </p:nvSpPr>
        <p:spPr>
          <a:xfrm>
            <a:off x="4846320" y="3383280"/>
            <a:ext cx="3657600" cy="274320"/>
          </a:xfrm>
          <a:prstGeom prst="rect">
            <a:avLst/>
          </a:prstGeom>
          <a:noFill/>
          <a:ln/>
        </p:spPr>
        <p:txBody>
          <a:bodyPr wrap="square" lIns="0" tIns="0" rIns="0" bIns="0" rtlCol="0" anchor="t"/>
          <a:lstStyle/>
          <a:p>
            <a:pPr indent="0" marL="0">
              <a:buNone/>
            </a:pPr>
            <a:r>
              <a:rPr lang="en-US" sz="1200" b="1" dirty="0">
                <a:solidFill>
                  <a:srgbClr val="1F4E48"/>
                </a:solidFill>
                <a:latin typeface="Calibri" pitchFamily="34" charset="0"/>
                <a:ea typeface="Calibri" pitchFamily="34" charset="-122"/>
                <a:cs typeface="Calibri" pitchFamily="34" charset="-120"/>
              </a:rPr>
              <a:t>What the model is for</a:t>
            </a:r>
            <a:endParaRPr lang="en-US" sz="1200" dirty="0"/>
          </a:p>
        </p:txBody>
      </p:sp>
      <p:sp>
        <p:nvSpPr>
          <p:cNvPr id="38" name="Text 36"/>
          <p:cNvSpPr txBox="1"/>
          <p:nvPr/>
        </p:nvSpPr>
        <p:spPr>
          <a:xfrm>
            <a:off x="4846320" y="3675888"/>
            <a:ext cx="3657600" cy="91440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2B2B2B"/>
                </a:solidFill>
                <a:latin typeface="Calibri" pitchFamily="34" charset="0"/>
                <a:ea typeface="Calibri" pitchFamily="34" charset="-122"/>
                <a:cs typeface="Calibri" pitchFamily="34" charset="-120"/>
              </a:rPr>
              <a:t>Reading 200 pages and citing where each fact came from</a:t>
            </a:r>
            <a:endParaRPr lang="en-US" sz="1000" dirty="0"/>
          </a:p>
          <a:p>
            <a:pPr marL="342900" indent="-342900">
              <a:spcAft>
                <a:spcPts val="600"/>
              </a:spcAft>
              <a:buSzPct val="100000"/>
              <a:buChar char="•"/>
            </a:pPr>
            <a:r>
              <a:rPr lang="en-US" sz="1000" dirty="0">
                <a:solidFill>
                  <a:srgbClr val="2B2B2B"/>
                </a:solidFill>
                <a:latin typeface="Calibri" pitchFamily="34" charset="0"/>
                <a:ea typeface="Calibri" pitchFamily="34" charset="-122"/>
                <a:cs typeface="Calibri" pitchFamily="34" charset="-120"/>
              </a:rPr>
              <a:t>Holding 200 live files at once without losing track of one</a:t>
            </a:r>
            <a:endParaRPr lang="en-US" sz="1000" dirty="0"/>
          </a:p>
          <a:p>
            <a:pPr marL="342900" indent="-342900">
              <a:spcAft>
                <a:spcPts val="600"/>
              </a:spcAft>
              <a:buSzPct val="100000"/>
              <a:buChar char="•"/>
            </a:pPr>
            <a:r>
              <a:rPr lang="en-US" sz="1000" dirty="0">
                <a:solidFill>
                  <a:srgbClr val="2B2B2B"/>
                </a:solidFill>
                <a:latin typeface="Calibri" pitchFamily="34" charset="0"/>
                <a:ea typeface="Calibri" pitchFamily="34" charset="-122"/>
                <a:cs typeface="Calibri" pitchFamily="34" charset="-120"/>
              </a:rPr>
              <a:t>Spotting the inconsistency a tired analyst misses on case 19 of 23</a:t>
            </a:r>
            <a:endParaRPr lang="en-US" sz="1000" dirty="0"/>
          </a:p>
        </p:txBody>
      </p:sp>
      <p:sp>
        <p:nvSpPr>
          <p:cNvPr id="39" name="Text 37"/>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40" name="Text 38"/>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Why now</a:t>
            </a:r>
            <a:endParaRPr lang="en-US" sz="2400" dirty="0"/>
          </a:p>
        </p:txBody>
      </p:sp>
      <p:sp>
        <p:nvSpPr>
          <p:cNvPr id="3" name="Shape 1"/>
          <p:cNvSpPr/>
          <p:nvPr/>
        </p:nvSpPr>
        <p:spPr>
          <a:xfrm>
            <a:off x="457200" y="1143000"/>
            <a:ext cx="2651760" cy="3108960"/>
          </a:xfrm>
          <a:prstGeom prst="roundRect">
            <a:avLst>
              <a:gd name="adj" fmla="val 2759"/>
            </a:avLst>
          </a:prstGeom>
          <a:solidFill>
            <a:srgbClr val="E6F0ED"/>
          </a:solidFill>
          <a:ln w="12700">
            <a:solidFill>
              <a:srgbClr val="E6F0ED"/>
            </a:solidFill>
            <a:prstDash val="solid"/>
          </a:ln>
        </p:spPr>
      </p:sp>
      <p:sp>
        <p:nvSpPr>
          <p:cNvPr id="4" name="Shape 2"/>
          <p:cNvSpPr/>
          <p:nvPr/>
        </p:nvSpPr>
        <p:spPr>
          <a:xfrm>
            <a:off x="640080" y="1325880"/>
            <a:ext cx="384048" cy="384048"/>
          </a:xfrm>
          <a:prstGeom prst="ellipse">
            <a:avLst/>
          </a:prstGeom>
          <a:solidFill>
            <a:srgbClr val="2E8B7A"/>
          </a:solidFill>
          <a:ln w="12700">
            <a:solidFill>
              <a:srgbClr val="2E8B7A"/>
            </a:solidFill>
            <a:prstDash val="solid"/>
          </a:ln>
        </p:spPr>
      </p:sp>
      <p:sp>
        <p:nvSpPr>
          <p:cNvPr id="5" name="Text 3"/>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640080" y="1810512"/>
            <a:ext cx="2286000" cy="548640"/>
          </a:xfrm>
          <a:prstGeom prst="rect">
            <a:avLst/>
          </a:prstGeom>
          <a:noFill/>
          <a:ln/>
        </p:spPr>
        <p:txBody>
          <a:bodyPr wrap="square" lIns="0" tIns="0" rIns="0" bIns="0" rtlCol="0" anchor="ctr"/>
          <a:lstStyle/>
          <a:p>
            <a:pPr indent="0" marL="0">
              <a:buNone/>
            </a:pPr>
            <a:r>
              <a:rPr lang="en-US" sz="1400" b="1" dirty="0">
                <a:solidFill>
                  <a:srgbClr val="1F4E48"/>
                </a:solidFill>
                <a:latin typeface="Cambria" pitchFamily="34" charset="0"/>
                <a:ea typeface="Cambria" pitchFamily="34" charset="-122"/>
                <a:cs typeface="Cambria" pitchFamily="34" charset="-120"/>
              </a:rPr>
              <a:t>Models can read the documents</a:t>
            </a:r>
            <a:endParaRPr lang="en-US" sz="1400" dirty="0"/>
          </a:p>
        </p:txBody>
      </p:sp>
      <p:sp>
        <p:nvSpPr>
          <p:cNvPr id="7" name="Text 5"/>
          <p:cNvSpPr txBox="1"/>
          <p:nvPr/>
        </p:nvSpPr>
        <p:spPr>
          <a:xfrm>
            <a:off x="640080" y="2377440"/>
            <a:ext cx="2286000" cy="178308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Frontier models now handle long valuation and monitoring reports with page-level citations. Two years ago they could not be trusted with a Red Book report. The cost is about £2 per case at list price.</a:t>
            </a:r>
            <a:endParaRPr lang="en-US" sz="1050" dirty="0"/>
          </a:p>
        </p:txBody>
      </p:sp>
      <p:sp>
        <p:nvSpPr>
          <p:cNvPr id="8" name="Shape 6"/>
          <p:cNvSpPr/>
          <p:nvPr/>
        </p:nvSpPr>
        <p:spPr>
          <a:xfrm>
            <a:off x="3246120" y="1143000"/>
            <a:ext cx="2651760" cy="3108960"/>
          </a:xfrm>
          <a:prstGeom prst="roundRect">
            <a:avLst>
              <a:gd name="adj" fmla="val 2759"/>
            </a:avLst>
          </a:prstGeom>
          <a:solidFill>
            <a:srgbClr val="E6F0ED"/>
          </a:solidFill>
          <a:ln w="12700">
            <a:solidFill>
              <a:srgbClr val="E6F0ED"/>
            </a:solidFill>
            <a:prstDash val="solid"/>
          </a:ln>
        </p:spPr>
      </p:sp>
      <p:sp>
        <p:nvSpPr>
          <p:cNvPr id="9" name="Shape 7"/>
          <p:cNvSpPr/>
          <p:nvPr/>
        </p:nvSpPr>
        <p:spPr>
          <a:xfrm>
            <a:off x="3429000" y="1325880"/>
            <a:ext cx="384048" cy="384048"/>
          </a:xfrm>
          <a:prstGeom prst="ellipse">
            <a:avLst/>
          </a:prstGeom>
          <a:solidFill>
            <a:srgbClr val="2E8B7A"/>
          </a:solidFill>
          <a:ln w="12700">
            <a:solidFill>
              <a:srgbClr val="2E8B7A"/>
            </a:solidFill>
            <a:prstDash val="solid"/>
          </a:ln>
        </p:spPr>
      </p:sp>
      <p:sp>
        <p:nvSpPr>
          <p:cNvPr id="10" name="Text 8"/>
          <p:cNvSpPr txBox="1"/>
          <p:nvPr/>
        </p:nvSpPr>
        <p:spPr>
          <a:xfrm>
            <a:off x="342900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3429000" y="1810512"/>
            <a:ext cx="2286000" cy="548640"/>
          </a:xfrm>
          <a:prstGeom prst="rect">
            <a:avLst/>
          </a:prstGeom>
          <a:noFill/>
          <a:ln/>
        </p:spPr>
        <p:txBody>
          <a:bodyPr wrap="square" lIns="0" tIns="0" rIns="0" bIns="0" rtlCol="0" anchor="ctr"/>
          <a:lstStyle/>
          <a:p>
            <a:pPr indent="0" marL="0">
              <a:buNone/>
            </a:pPr>
            <a:r>
              <a:rPr lang="en-US" sz="1400" b="1" dirty="0">
                <a:solidFill>
                  <a:srgbClr val="1F4E48"/>
                </a:solidFill>
                <a:latin typeface="Cambria" pitchFamily="34" charset="0"/>
                <a:ea typeface="Cambria" pitchFamily="34" charset="-122"/>
                <a:cs typeface="Cambria" pitchFamily="34" charset="-120"/>
              </a:rPr>
              <a:t>The rest of the chain is going digital</a:t>
            </a:r>
            <a:endParaRPr lang="en-US" sz="1400" dirty="0"/>
          </a:p>
        </p:txBody>
      </p:sp>
      <p:sp>
        <p:nvSpPr>
          <p:cNvPr id="12" name="Text 10"/>
          <p:cNvSpPr txBox="1"/>
          <p:nvPr/>
        </p:nvSpPr>
        <p:spPr>
          <a:xfrm>
            <a:off x="3429000" y="2377440"/>
            <a:ext cx="2286000" cy="178308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Land Registry, Companies House, Open Banking, AVMs and KYC all have APIs. Legal AI already supports a quarter of a million property transactions across the UK and US (Orbital). The third parties are speeding up.</a:t>
            </a:r>
            <a:endParaRPr lang="en-US" sz="1050" dirty="0"/>
          </a:p>
        </p:txBody>
      </p:sp>
      <p:sp>
        <p:nvSpPr>
          <p:cNvPr id="13" name="Shape 11"/>
          <p:cNvSpPr/>
          <p:nvPr/>
        </p:nvSpPr>
        <p:spPr>
          <a:xfrm>
            <a:off x="6035040" y="1143000"/>
            <a:ext cx="2651760" cy="3108960"/>
          </a:xfrm>
          <a:prstGeom prst="roundRect">
            <a:avLst>
              <a:gd name="adj" fmla="val 2759"/>
            </a:avLst>
          </a:prstGeom>
          <a:solidFill>
            <a:srgbClr val="E6F0ED"/>
          </a:solidFill>
          <a:ln w="12700">
            <a:solidFill>
              <a:srgbClr val="E6F0ED"/>
            </a:solidFill>
            <a:prstDash val="solid"/>
          </a:ln>
        </p:spPr>
      </p:sp>
      <p:sp>
        <p:nvSpPr>
          <p:cNvPr id="14" name="Shape 12"/>
          <p:cNvSpPr/>
          <p:nvPr/>
        </p:nvSpPr>
        <p:spPr>
          <a:xfrm>
            <a:off x="6217920" y="1325880"/>
            <a:ext cx="384048" cy="384048"/>
          </a:xfrm>
          <a:prstGeom prst="ellipse">
            <a:avLst/>
          </a:prstGeom>
          <a:solidFill>
            <a:srgbClr val="2E8B7A"/>
          </a:solidFill>
          <a:ln w="12700">
            <a:solidFill>
              <a:srgbClr val="2E8B7A"/>
            </a:solidFill>
            <a:prstDash val="solid"/>
          </a:ln>
        </p:spPr>
      </p:sp>
      <p:sp>
        <p:nvSpPr>
          <p:cNvPr id="15" name="Text 13"/>
          <p:cNvSpPr txBox="1"/>
          <p:nvPr/>
        </p:nvSpPr>
        <p:spPr>
          <a:xfrm>
            <a:off x="621792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6217920" y="1810512"/>
            <a:ext cx="2286000" cy="548640"/>
          </a:xfrm>
          <a:prstGeom prst="rect">
            <a:avLst/>
          </a:prstGeom>
          <a:noFill/>
          <a:ln/>
        </p:spPr>
        <p:txBody>
          <a:bodyPr wrap="square" lIns="0" tIns="0" rIns="0" bIns="0" rtlCol="0" anchor="ctr"/>
          <a:lstStyle/>
          <a:p>
            <a:pPr indent="0" marL="0">
              <a:buNone/>
            </a:pPr>
            <a:r>
              <a:rPr lang="en-US" sz="1400" b="1" dirty="0">
                <a:solidFill>
                  <a:srgbClr val="1F4E48"/>
                </a:solidFill>
                <a:latin typeface="Cambria" pitchFamily="34" charset="0"/>
                <a:ea typeface="Cambria" pitchFamily="34" charset="-122"/>
                <a:cs typeface="Cambria" pitchFamily="34" charset="-120"/>
              </a:rPr>
              <a:t>Lender margins are under pressure</a:t>
            </a:r>
            <a:endParaRPr lang="en-US" sz="1400" dirty="0"/>
          </a:p>
        </p:txBody>
      </p:sp>
      <p:sp>
        <p:nvSpPr>
          <p:cNvPr id="17" name="Text 15"/>
          <p:cNvSpPr txBox="1"/>
          <p:nvPr/>
        </p:nvSpPr>
        <p:spPr>
          <a:xfrm>
            <a:off x="6217920" y="2377440"/>
            <a:ext cx="2286000" cy="178308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Average bridging rates fell from 0.88% to 0.81% a month; member loan books are down 16% from the 2025 peak. A 14% operating margin does not survive that. Growing without hiring is the way out.</a:t>
            </a:r>
            <a:endParaRPr lang="en-US" sz="1050" dirty="0"/>
          </a:p>
        </p:txBody>
      </p:sp>
      <p:sp>
        <p:nvSpPr>
          <p:cNvPr id="18" name="Text 16"/>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900" dirty="0">
                <a:solidFill>
                  <a:srgbClr val="6B7674"/>
                </a:solidFill>
                <a:latin typeface="Calibri" pitchFamily="34" charset="0"/>
                <a:ea typeface="Calibri" pitchFamily="34" charset="-122"/>
                <a:cs typeface="Calibri" pitchFamily="34" charset="-120"/>
              </a:rPr>
              <a:t>Sources: Bridging Trends 2024–Q2 2026; BDLA quarterly data Q3 2025–Q1 2026; Anthropic list pricing June 2026; Will Pearce (Orbital), interview.</a:t>
            </a:r>
            <a:endParaRPr lang="en-US" sz="900" dirty="0"/>
          </a:p>
        </p:txBody>
      </p:sp>
      <p:sp>
        <p:nvSpPr>
          <p:cNvPr id="19" name="Text 17"/>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20" name="Text 18"/>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Market and wedge</a:t>
            </a:r>
            <a:endParaRPr lang="en-US" sz="2400" dirty="0"/>
          </a:p>
        </p:txBody>
      </p:sp>
      <p:sp>
        <p:nvSpPr>
          <p:cNvPr id="3" name="Text 1"/>
          <p:cNvSpPr txBox="1"/>
          <p:nvPr/>
        </p:nvSpPr>
        <p:spPr>
          <a:xfrm>
            <a:off x="457200" y="1097280"/>
            <a:ext cx="2011680" cy="685800"/>
          </a:xfrm>
          <a:prstGeom prst="rect">
            <a:avLst/>
          </a:prstGeom>
          <a:noFill/>
          <a:ln/>
        </p:spPr>
        <p:txBody>
          <a:bodyPr wrap="square" lIns="0" tIns="0" rIns="0" bIns="0" rtlCol="0" anchor="b"/>
          <a:lstStyle/>
          <a:p>
            <a:pPr indent="0" marL="0">
              <a:buNone/>
            </a:pPr>
            <a:r>
              <a:rPr lang="en-US" sz="3600" b="1" dirty="0">
                <a:solidFill>
                  <a:srgbClr val="2E8B7A"/>
                </a:solidFill>
                <a:latin typeface="Cambria" pitchFamily="34" charset="0"/>
                <a:ea typeface="Cambria" pitchFamily="34" charset="-122"/>
                <a:cs typeface="Cambria" pitchFamily="34" charset="-120"/>
              </a:rPr>
              <a:t>£11.5bn</a:t>
            </a:r>
            <a:endParaRPr lang="en-US" sz="3600" dirty="0"/>
          </a:p>
        </p:txBody>
      </p:sp>
      <p:sp>
        <p:nvSpPr>
          <p:cNvPr id="4" name="Text 2"/>
          <p:cNvSpPr txBox="1"/>
          <p:nvPr/>
        </p:nvSpPr>
        <p:spPr>
          <a:xfrm>
            <a:off x="457200" y="1810512"/>
            <a:ext cx="2011680" cy="502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UK bridging loan books (BDLA members, Q1 2026)</a:t>
            </a:r>
            <a:endParaRPr lang="en-US" sz="1100" dirty="0"/>
          </a:p>
        </p:txBody>
      </p:sp>
      <p:sp>
        <p:nvSpPr>
          <p:cNvPr id="5" name="Text 3"/>
          <p:cNvSpPr txBox="1"/>
          <p:nvPr/>
        </p:nvSpPr>
        <p:spPr>
          <a:xfrm>
            <a:off x="2651760" y="1097280"/>
            <a:ext cx="2011680" cy="685800"/>
          </a:xfrm>
          <a:prstGeom prst="rect">
            <a:avLst/>
          </a:prstGeom>
          <a:noFill/>
          <a:ln/>
        </p:spPr>
        <p:txBody>
          <a:bodyPr wrap="square" lIns="0" tIns="0" rIns="0" bIns="0" rtlCol="0" anchor="b"/>
          <a:lstStyle/>
          <a:p>
            <a:pPr indent="0" marL="0">
              <a:buNone/>
            </a:pPr>
            <a:r>
              <a:rPr lang="en-US" sz="3600" b="1" dirty="0">
                <a:solidFill>
                  <a:srgbClr val="2E8B7A"/>
                </a:solidFill>
                <a:latin typeface="Cambria" pitchFamily="34" charset="0"/>
                <a:ea typeface="Cambria" pitchFamily="34" charset="-122"/>
                <a:cs typeface="Cambria" pitchFamily="34" charset="-120"/>
              </a:rPr>
              <a:t>£8–10bn</a:t>
            </a:r>
            <a:endParaRPr lang="en-US" sz="3600" dirty="0"/>
          </a:p>
        </p:txBody>
      </p:sp>
      <p:sp>
        <p:nvSpPr>
          <p:cNvPr id="6" name="Text 4"/>
          <p:cNvSpPr txBox="1"/>
          <p:nvPr/>
        </p:nvSpPr>
        <p:spPr>
          <a:xfrm>
            <a:off x="2651760" y="1810512"/>
            <a:ext cx="2011680" cy="502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new bridging completions a year</a:t>
            </a:r>
            <a:endParaRPr lang="en-US" sz="1100" dirty="0"/>
          </a:p>
        </p:txBody>
      </p:sp>
      <p:sp>
        <p:nvSpPr>
          <p:cNvPr id="7" name="Text 5"/>
          <p:cNvSpPr txBox="1"/>
          <p:nvPr/>
        </p:nvSpPr>
        <p:spPr>
          <a:xfrm>
            <a:off x="4846320" y="1097280"/>
            <a:ext cx="2011680" cy="685800"/>
          </a:xfrm>
          <a:prstGeom prst="rect">
            <a:avLst/>
          </a:prstGeom>
          <a:noFill/>
          <a:ln/>
        </p:spPr>
        <p:txBody>
          <a:bodyPr wrap="square" lIns="0" tIns="0" rIns="0" bIns="0" rtlCol="0" anchor="b"/>
          <a:lstStyle/>
          <a:p>
            <a:pPr indent="0" marL="0">
              <a:buNone/>
            </a:pPr>
            <a:r>
              <a:rPr lang="en-US" sz="3600" b="1" dirty="0">
                <a:solidFill>
                  <a:srgbClr val="2E8B7A"/>
                </a:solidFill>
                <a:latin typeface="Cambria" pitchFamily="34" charset="0"/>
                <a:ea typeface="Cambria" pitchFamily="34" charset="-122"/>
                <a:cs typeface="Cambria" pitchFamily="34" charset="-120"/>
              </a:rPr>
              <a:t>~100</a:t>
            </a:r>
            <a:endParaRPr lang="en-US" sz="3600" dirty="0"/>
          </a:p>
        </p:txBody>
      </p:sp>
      <p:sp>
        <p:nvSpPr>
          <p:cNvPr id="8" name="Text 6"/>
          <p:cNvSpPr txBox="1"/>
          <p:nvPr/>
        </p:nvSpPr>
        <p:spPr>
          <a:xfrm>
            <a:off x="4846320" y="1810512"/>
            <a:ext cx="2011680" cy="502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active lenders, most with 15–60 staff</a:t>
            </a:r>
            <a:endParaRPr lang="en-US" sz="1100" dirty="0"/>
          </a:p>
        </p:txBody>
      </p:sp>
      <p:sp>
        <p:nvSpPr>
          <p:cNvPr id="9" name="Text 7"/>
          <p:cNvSpPr txBox="1"/>
          <p:nvPr/>
        </p:nvSpPr>
        <p:spPr>
          <a:xfrm>
            <a:off x="7040880" y="1097280"/>
            <a:ext cx="1737360" cy="685800"/>
          </a:xfrm>
          <a:prstGeom prst="rect">
            <a:avLst/>
          </a:prstGeom>
          <a:noFill/>
          <a:ln/>
        </p:spPr>
        <p:txBody>
          <a:bodyPr wrap="square" lIns="0" tIns="0" rIns="0" bIns="0" rtlCol="0" anchor="b"/>
          <a:lstStyle/>
          <a:p>
            <a:pPr indent="0" marL="0">
              <a:buNone/>
            </a:pPr>
            <a:r>
              <a:rPr lang="en-US" sz="3600" b="1" dirty="0">
                <a:solidFill>
                  <a:srgbClr val="2E8B7A"/>
                </a:solidFill>
                <a:latin typeface="Cambria" pitchFamily="34" charset="0"/>
                <a:ea typeface="Cambria" pitchFamily="34" charset="-122"/>
                <a:cs typeface="Cambria" pitchFamily="34" charset="-120"/>
              </a:rPr>
              <a:t>61%</a:t>
            </a:r>
            <a:endParaRPr lang="en-US" sz="3600" dirty="0"/>
          </a:p>
        </p:txBody>
      </p:sp>
      <p:sp>
        <p:nvSpPr>
          <p:cNvPr id="10" name="Text 8"/>
          <p:cNvSpPr txBox="1"/>
          <p:nvPr/>
        </p:nvSpPr>
        <p:spPr>
          <a:xfrm>
            <a:off x="7040880" y="1810512"/>
            <a:ext cx="1737360" cy="502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of lenders name brokers as their primary channel</a:t>
            </a:r>
            <a:endParaRPr lang="en-US" sz="1100" dirty="0"/>
          </a:p>
        </p:txBody>
      </p:sp>
      <p:sp>
        <p:nvSpPr>
          <p:cNvPr id="11" name="Shape 9"/>
          <p:cNvSpPr/>
          <p:nvPr/>
        </p:nvSpPr>
        <p:spPr>
          <a:xfrm>
            <a:off x="457200" y="2606040"/>
            <a:ext cx="4023360" cy="2011680"/>
          </a:xfrm>
          <a:prstGeom prst="roundRect">
            <a:avLst>
              <a:gd name="adj" fmla="val 3636"/>
            </a:avLst>
          </a:prstGeom>
          <a:solidFill>
            <a:srgbClr val="E6F0ED"/>
          </a:solidFill>
          <a:ln w="12700">
            <a:solidFill>
              <a:srgbClr val="E6F0ED"/>
            </a:solidFill>
            <a:prstDash val="solid"/>
          </a:ln>
        </p:spPr>
      </p:sp>
      <p:sp>
        <p:nvSpPr>
          <p:cNvPr id="12" name="Text 10"/>
          <p:cNvSpPr txBox="1"/>
          <p:nvPr/>
        </p:nvSpPr>
        <p:spPr>
          <a:xfrm>
            <a:off x="640080" y="2697480"/>
            <a:ext cx="3657600" cy="274320"/>
          </a:xfrm>
          <a:prstGeom prst="rect">
            <a:avLst/>
          </a:prstGeom>
          <a:noFill/>
          <a:ln/>
        </p:spPr>
        <p:txBody>
          <a:bodyPr wrap="square" lIns="0" tIns="0" rIns="0" bIns="0" rtlCol="0" anchor="t"/>
          <a:lstStyle/>
          <a:p>
            <a:pPr indent="0" marL="0">
              <a:buNone/>
            </a:pPr>
            <a:r>
              <a:rPr lang="en-US" sz="1250" b="1" dirty="0">
                <a:solidFill>
                  <a:srgbClr val="1F4E48"/>
                </a:solidFill>
                <a:latin typeface="Calibri" pitchFamily="34" charset="0"/>
                <a:ea typeface="Calibri" pitchFamily="34" charset="-122"/>
                <a:cs typeface="Calibri" pitchFamily="34" charset="-120"/>
              </a:rPr>
              <a:t>Wedge: sell the engine before lending with it</a:t>
            </a:r>
            <a:endParaRPr lang="en-US" sz="1250" dirty="0"/>
          </a:p>
        </p:txBody>
      </p:sp>
      <p:sp>
        <p:nvSpPr>
          <p:cNvPr id="13" name="Text 11"/>
          <p:cNvSpPr txBox="1"/>
          <p:nvPr/>
        </p:nvSpPr>
        <p:spPr>
          <a:xfrm>
            <a:off x="640080" y="3017520"/>
            <a:ext cx="3657600" cy="155448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2B2B2B"/>
                </a:solidFill>
                <a:latin typeface="Calibri" pitchFamily="34" charset="0"/>
                <a:ea typeface="Calibri" pitchFamily="34" charset="-122"/>
                <a:cs typeface="Calibri" pitchFamily="34" charset="-120"/>
              </a:rPr>
              <a:t>Per-case pricing to small and mid-size lenders at £250, against ~£600 of in-house cost per assessed case.</a:t>
            </a:r>
            <a:endParaRPr lang="en-US" sz="1000" dirty="0"/>
          </a:p>
          <a:p>
            <a:pPr marL="342900" indent="-342900">
              <a:spcAft>
                <a:spcPts val="600"/>
              </a:spcAft>
              <a:buSzPct val="100000"/>
              <a:buChar char="•"/>
            </a:pPr>
            <a:r>
              <a:rPr lang="en-US" sz="1000" dirty="0">
                <a:solidFill>
                  <a:srgbClr val="2B2B2B"/>
                </a:solidFill>
                <a:latin typeface="Calibri" pitchFamily="34" charset="0"/>
                <a:ea typeface="Calibri" pitchFamily="34" charset="-122"/>
                <a:cs typeface="Calibri" pitchFamily="34" charset="-120"/>
              </a:rPr>
              <a:t>~65,000 cases assessed a year across the market (17,000 loans × 4 cases each): a £16m annual pool at that price, and a direct line into every lender's credit team.</a:t>
            </a:r>
            <a:endParaRPr lang="en-US" sz="1000" dirty="0"/>
          </a:p>
          <a:p>
            <a:pPr marL="342900" indent="-342900">
              <a:spcAft>
                <a:spcPts val="600"/>
              </a:spcAft>
              <a:buSzPct val="100000"/>
              <a:buChar char="•"/>
            </a:pPr>
            <a:r>
              <a:rPr lang="en-US" sz="1000" dirty="0">
                <a:solidFill>
                  <a:srgbClr val="2B2B2B"/>
                </a:solidFill>
                <a:latin typeface="Calibri" pitchFamily="34" charset="0"/>
                <a:ea typeface="Calibri" pitchFamily="34" charset="-122"/>
                <a:cs typeface="Calibri" pitchFamily="34" charset="-120"/>
              </a:rPr>
              <a:t>Design partners give the training data and the credibility to originate.</a:t>
            </a:r>
            <a:endParaRPr lang="en-US" sz="1000" dirty="0"/>
          </a:p>
        </p:txBody>
      </p:sp>
      <p:sp>
        <p:nvSpPr>
          <p:cNvPr id="14" name="Shape 12"/>
          <p:cNvSpPr/>
          <p:nvPr/>
        </p:nvSpPr>
        <p:spPr>
          <a:xfrm>
            <a:off x="4663440" y="2606040"/>
            <a:ext cx="4023360" cy="2011680"/>
          </a:xfrm>
          <a:prstGeom prst="roundRect">
            <a:avLst>
              <a:gd name="adj" fmla="val 3636"/>
            </a:avLst>
          </a:prstGeom>
          <a:solidFill>
            <a:srgbClr val="1F4E48"/>
          </a:solidFill>
          <a:ln w="12700">
            <a:solidFill>
              <a:srgbClr val="1F4E48"/>
            </a:solidFill>
            <a:prstDash val="solid"/>
          </a:ln>
        </p:spPr>
      </p:sp>
      <p:sp>
        <p:nvSpPr>
          <p:cNvPr id="15" name="Text 13"/>
          <p:cNvSpPr txBox="1"/>
          <p:nvPr/>
        </p:nvSpPr>
        <p:spPr>
          <a:xfrm>
            <a:off x="4846320" y="2697480"/>
            <a:ext cx="36576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Then: originate on the AI-native cost base</a:t>
            </a:r>
            <a:endParaRPr lang="en-US" sz="1250" dirty="0"/>
          </a:p>
        </p:txBody>
      </p:sp>
      <p:sp>
        <p:nvSpPr>
          <p:cNvPr id="16" name="Text 14"/>
          <p:cNvSpPr txBox="1"/>
          <p:nvPr/>
        </p:nvSpPr>
        <p:spPr>
          <a:xfrm>
            <a:off x="4846320" y="3017520"/>
            <a:ext cx="3657600" cy="155448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E6F0ED"/>
                </a:solidFill>
                <a:latin typeface="Calibri" pitchFamily="34" charset="0"/>
                <a:ea typeface="Calibri" pitchFamily="34" charset="-122"/>
                <a:cs typeface="Calibri" pitchFamily="34" charset="-120"/>
              </a:rPr>
              <a:t>Funding partners already lend 95% of each loan at 8.25–9.75%; the lender puts in 5% first-loss. The funding model exists — the cost base is the innovation.</a:t>
            </a:r>
            <a:endParaRPr lang="en-US" sz="1000" dirty="0"/>
          </a:p>
          <a:p>
            <a:pPr marL="342900" indent="-342900">
              <a:spcAft>
                <a:spcPts val="600"/>
              </a:spcAft>
              <a:buSzPct val="100000"/>
              <a:buChar char="•"/>
            </a:pPr>
            <a:r>
              <a:rPr lang="en-US" sz="1000" dirty="0">
                <a:solidFill>
                  <a:srgbClr val="E6F0ED"/>
                </a:solidFill>
                <a:latin typeface="Calibri" pitchFamily="34" charset="0"/>
                <a:ea typeface="Calibri" pitchFamily="34" charset="-122"/>
                <a:cs typeface="Calibri" pitchFamily="34" charset="-120"/>
              </a:rPr>
              <a:t>A £150m book on the Verdigris cost base makes £3.8m a year, not £0.7m.</a:t>
            </a:r>
            <a:endParaRPr lang="en-US" sz="1000" dirty="0"/>
          </a:p>
          <a:p>
            <a:pPr marL="342900" indent="-342900">
              <a:buSzPct val="100000"/>
              <a:buChar char="•"/>
            </a:pPr>
            <a:r>
              <a:rPr lang="en-US" sz="1000" dirty="0">
                <a:solidFill>
                  <a:srgbClr val="E6F0ED"/>
                </a:solidFill>
                <a:latin typeface="Calibri" pitchFamily="34" charset="0"/>
                <a:ea typeface="Calibri" pitchFamily="34" charset="-122"/>
                <a:cs typeface="Calibri" pitchFamily="34" charset="-120"/>
              </a:rPr>
              <a:t>Target: £50m book in year 2, £150m in year 3, funded deal-by-deal then on a facility.</a:t>
            </a:r>
            <a:endParaRPr lang="en-US" sz="1000" dirty="0"/>
          </a:p>
        </p:txBody>
      </p:sp>
      <p:sp>
        <p:nvSpPr>
          <p:cNvPr id="17" name="Text 15"/>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18" name="Text 1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The alternatives move the file around. None of them carries it.</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029200" cy="914400"/>
        </p:xfrm>
        <a:graphic>
          <a:graphicData uri="http://schemas.openxmlformats.org/drawingml/2006/table">
            <a:tbl>
              <a:tblPr/>
              <a:tblGrid>
                <a:gridCol w="1417320"/>
                <a:gridCol w="1691640"/>
                <a:gridCol w="1920240"/>
              </a:tblGrid>
              <a:tr h="29260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Alternative</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4E4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does well</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4E4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Why capacity stays at 15–25</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4E48"/>
                    </a:solidFill>
                  </a:tcPr>
                </a:tc>
              </a:tr>
              <a:tr h="64008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In-house credit team</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Judgement, broker relationships, knows the lender's policy</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Every file is read, chased and written up by hand</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64008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Loan origination and case-management software</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Tracks the pipeline, stores documents, runs the workflow</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It moves the file; a person still has to read it</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64008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General-purpose AI chat and document tools</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Summarises one document on request</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No cross-checking, no citations, no lender format, no audit trail. One file at a time</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64008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Other lenders with online front ends</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Fast indicative terms for brokers</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Behind the portal, credit is still done by people. Cost still scales with headcount</a:t>
                      </a:r>
                      <a:endParaRPr lang="en-US" sz="900" dirty="0">
                        <a:latin typeface="Calibri" charset="0"/>
                        <a:ea typeface="Calibri" charset="0"/>
                        <a:cs typeface="Calibri" charset="0"/>
                      </a:endParaRPr>
                    </a:p>
                  </a:txBody>
                  <a:tcPr marL="45720" marR="4572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Shape 1"/>
          <p:cNvSpPr/>
          <p:nvPr/>
        </p:nvSpPr>
        <p:spPr>
          <a:xfrm>
            <a:off x="5669280" y="1143000"/>
            <a:ext cx="3017520" cy="3429000"/>
          </a:xfrm>
          <a:prstGeom prst="roundRect">
            <a:avLst>
              <a:gd name="adj" fmla="val 2424"/>
            </a:avLst>
          </a:prstGeom>
          <a:solidFill>
            <a:srgbClr val="1F4E48"/>
          </a:solidFill>
          <a:ln w="12700">
            <a:solidFill>
              <a:srgbClr val="1F4E48"/>
            </a:solidFill>
            <a:prstDash val="solid"/>
          </a:ln>
        </p:spPr>
      </p:sp>
      <p:sp>
        <p:nvSpPr>
          <p:cNvPr id="5" name="Text 2"/>
          <p:cNvSpPr txBox="1"/>
          <p:nvPr/>
        </p:nvSpPr>
        <p:spPr>
          <a:xfrm>
            <a:off x="5852160" y="1261872"/>
            <a:ext cx="26517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Why it holds</a:t>
            </a:r>
            <a:endParaRPr lang="en-US" sz="1600" dirty="0"/>
          </a:p>
        </p:txBody>
      </p:sp>
      <p:sp>
        <p:nvSpPr>
          <p:cNvPr id="6" name="Text 3"/>
          <p:cNvSpPr txBox="1"/>
          <p:nvPr/>
        </p:nvSpPr>
        <p:spPr>
          <a:xfrm>
            <a:off x="5852160" y="1691640"/>
            <a:ext cx="2651760" cy="2788920"/>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Built by an underwriter. </a:t>
            </a:r>
            <a:pPr indent="0" marL="0">
              <a:spcAft>
                <a:spcPts val="600"/>
              </a:spcAft>
              <a:buNone/>
            </a:pPr>
            <a:r>
              <a:rPr lang="en-US" sz="950" dirty="0">
                <a:solidFill>
                  <a:srgbClr val="E6F0ED"/>
                </a:solidFill>
                <a:latin typeface="Calibri" pitchFamily="34" charset="0"/>
                <a:ea typeface="Calibri" pitchFamily="34" charset="-122"/>
                <a:cs typeface="Calibri" pitchFamily="34" charset="-120"/>
              </a:rPr>
              <a:t>Encoded from real closed cases: which valuer caveats and surveyor comments actually move the credit.</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Every review is data. </a:t>
            </a:r>
            <a:pPr indent="0" marL="0">
              <a:spcAft>
                <a:spcPts val="600"/>
              </a:spcAft>
              <a:buNone/>
            </a:pPr>
            <a:r>
              <a:rPr lang="en-US" sz="950" dirty="0">
                <a:solidFill>
                  <a:srgbClr val="E6F0ED"/>
                </a:solidFill>
                <a:latin typeface="Calibri" pitchFamily="34" charset="0"/>
                <a:ea typeface="Calibri" pitchFamily="34" charset="-122"/>
                <a:cs typeface="Calibri" pitchFamily="34" charset="-120"/>
              </a:rPr>
              <a:t>Each edit an underwriter makes to a pack is a labelled example no generic tool has.</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Incumbents can't copy it. </a:t>
            </a:r>
            <a:pPr indent="0" marL="0">
              <a:spcAft>
                <a:spcPts val="600"/>
              </a:spcAft>
              <a:buNone/>
            </a:pPr>
            <a:r>
              <a:rPr lang="en-US" sz="950" dirty="0">
                <a:solidFill>
                  <a:srgbClr val="E6F0ED"/>
                </a:solidFill>
                <a:latin typeface="Calibri" pitchFamily="34" charset="0"/>
                <a:ea typeface="Calibri" pitchFamily="34" charset="-122"/>
                <a:cs typeface="Calibri" pitchFamily="34" charset="-120"/>
              </a:rPr>
              <a:t>Matching the cost base means cutting 29 of 37 roles and rebuilding the process.</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Ready for the instant transaction. </a:t>
            </a:r>
            <a:pPr indent="0" marL="0">
              <a:buNone/>
            </a:pPr>
            <a:r>
              <a:rPr lang="en-US" sz="950" dirty="0">
                <a:solidFill>
                  <a:srgbClr val="E6F0ED"/>
                </a:solidFill>
                <a:latin typeface="Calibri" pitchFamily="34" charset="0"/>
                <a:ea typeface="Calibri" pitchFamily="34" charset="-122"/>
                <a:cs typeface="Calibri" pitchFamily="34" charset="-120"/>
              </a:rPr>
              <a:t>When valuers and solicitors go AI, a people-run lender becomes the bottleneck.</a:t>
            </a:r>
            <a:endParaRPr lang="en-US" sz="950" dirty="0"/>
          </a:p>
        </p:txBody>
      </p:sp>
      <p:sp>
        <p:nvSpPr>
          <p:cNvPr id="7" name="Text 4"/>
          <p:cNvSpPr txBox="1"/>
          <p:nvPr/>
        </p:nvSpPr>
        <p:spPr>
          <a:xfrm>
            <a:off x="457200" y="4297680"/>
            <a:ext cx="5029200" cy="365760"/>
          </a:xfrm>
          <a:prstGeom prst="rect">
            <a:avLst/>
          </a:prstGeom>
          <a:noFill/>
          <a:ln/>
        </p:spPr>
        <p:txBody>
          <a:bodyPr wrap="square" lIns="0" tIns="0" rIns="0" bIns="0" rtlCol="0" anchor="t"/>
          <a:lstStyle/>
          <a:p>
            <a:pPr indent="0" marL="0">
              <a:buNone/>
            </a:pPr>
            <a:r>
              <a:rPr lang="en-US" sz="900" dirty="0">
                <a:solidFill>
                  <a:srgbClr val="6B7674"/>
                </a:solidFill>
                <a:latin typeface="Calibri" pitchFamily="34" charset="0"/>
                <a:ea typeface="Calibri" pitchFamily="34" charset="-122"/>
                <a:cs typeface="Calibri" pitchFamily="34" charset="-120"/>
              </a:rPr>
              <a:t>Categories, not named firms: a founder's view of the market, to be tested with design partners.</a:t>
            </a:r>
            <a:endParaRPr lang="en-US" sz="900" dirty="0"/>
          </a:p>
        </p:txBody>
      </p:sp>
      <p:sp>
        <p:nvSpPr>
          <p:cNvPr id="8" name="Text 5"/>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9" name="Text 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Roadmap to the first loan</a:t>
            </a:r>
            <a:endParaRPr lang="en-US" sz="2400" dirty="0"/>
          </a:p>
        </p:txBody>
      </p:sp>
      <p:sp>
        <p:nvSpPr>
          <p:cNvPr id="3" name="Shape 1"/>
          <p:cNvSpPr/>
          <p:nvPr/>
        </p:nvSpPr>
        <p:spPr>
          <a:xfrm>
            <a:off x="457200" y="1143000"/>
            <a:ext cx="2651760" cy="3246120"/>
          </a:xfrm>
          <a:prstGeom prst="roundRect">
            <a:avLst>
              <a:gd name="adj" fmla="val 2759"/>
            </a:avLst>
          </a:prstGeom>
          <a:solidFill>
            <a:srgbClr val="E6F0ED"/>
          </a:solidFill>
          <a:ln w="12700">
            <a:solidFill>
              <a:srgbClr val="E6F0ED"/>
            </a:solidFill>
            <a:prstDash val="solid"/>
          </a:ln>
        </p:spPr>
      </p:sp>
      <p:sp>
        <p:nvSpPr>
          <p:cNvPr id="4" name="Text 2"/>
          <p:cNvSpPr txBox="1"/>
          <p:nvPr/>
        </p:nvSpPr>
        <p:spPr>
          <a:xfrm>
            <a:off x="640080" y="1261872"/>
            <a:ext cx="2286000" cy="274320"/>
          </a:xfrm>
          <a:prstGeom prst="rect">
            <a:avLst/>
          </a:prstGeom>
          <a:noFill/>
          <a:ln/>
        </p:spPr>
        <p:txBody>
          <a:bodyPr wrap="square" lIns="0" tIns="0" rIns="0" bIns="0" rtlCol="0" anchor="ctr"/>
          <a:lstStyle/>
          <a:p>
            <a:pPr indent="0" marL="0">
              <a:buNone/>
            </a:pPr>
            <a:r>
              <a:rPr lang="en-US" sz="1000" b="1" dirty="0">
                <a:solidFill>
                  <a:srgbClr val="B87333"/>
                </a:solidFill>
                <a:latin typeface="Calibri" pitchFamily="34" charset="0"/>
                <a:ea typeface="Calibri" pitchFamily="34" charset="-122"/>
                <a:cs typeface="Calibri" pitchFamily="34" charset="-120"/>
              </a:rPr>
              <a:t>Now → Dec 2026</a:t>
            </a:r>
            <a:endParaRPr lang="en-US" sz="1000" dirty="0"/>
          </a:p>
        </p:txBody>
      </p:sp>
      <p:sp>
        <p:nvSpPr>
          <p:cNvPr id="5" name="Text 3"/>
          <p:cNvSpPr txBox="1"/>
          <p:nvPr/>
        </p:nvSpPr>
        <p:spPr>
          <a:xfrm>
            <a:off x="640080" y="1554480"/>
            <a:ext cx="2286000" cy="411480"/>
          </a:xfrm>
          <a:prstGeom prst="rect">
            <a:avLst/>
          </a:prstGeom>
          <a:noFill/>
          <a:ln/>
        </p:spPr>
        <p:txBody>
          <a:bodyPr wrap="square" lIns="0" tIns="0" rIns="0" bIns="0" rtlCol="0" anchor="ctr"/>
          <a:lstStyle/>
          <a:p>
            <a:pPr indent="0" marL="0">
              <a:buNone/>
            </a:pPr>
            <a:r>
              <a:rPr lang="en-US" sz="1800" b="1" dirty="0">
                <a:solidFill>
                  <a:srgbClr val="1F4E48"/>
                </a:solidFill>
                <a:latin typeface="Cambria" pitchFamily="34" charset="0"/>
                <a:ea typeface="Cambria" pitchFamily="34" charset="-122"/>
                <a:cs typeface="Cambria" pitchFamily="34" charset="-120"/>
              </a:rPr>
              <a:t>Prove the engine</a:t>
            </a:r>
            <a:endParaRPr lang="en-US" sz="1800" dirty="0"/>
          </a:p>
        </p:txBody>
      </p:sp>
      <p:sp>
        <p:nvSpPr>
          <p:cNvPr id="6" name="Text 4"/>
          <p:cNvSpPr txBox="1"/>
          <p:nvPr/>
        </p:nvSpPr>
        <p:spPr>
          <a:xfrm>
            <a:off x="640080" y="2011680"/>
            <a:ext cx="2286000" cy="22860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B2B2B"/>
                </a:solidFill>
                <a:latin typeface="Calibri" pitchFamily="34" charset="0"/>
                <a:ea typeface="Calibri" pitchFamily="34" charset="-122"/>
                <a:cs typeface="Calibri" pitchFamily="34" charset="-120"/>
              </a:rPr>
              <a:t>Working demo: one deal in, credit pack out</a:t>
            </a:r>
            <a:endParaRPr lang="en-US" sz="1000" dirty="0"/>
          </a:p>
          <a:p>
            <a:pPr marL="342900" indent="-342900">
              <a:spcAft>
                <a:spcPts val="500"/>
              </a:spcAft>
              <a:buSzPct val="100000"/>
              <a:buChar char="•"/>
            </a:pPr>
            <a:r>
              <a:rPr lang="en-US" sz="1000" dirty="0">
                <a:solidFill>
                  <a:srgbClr val="2B2B2B"/>
                </a:solidFill>
                <a:latin typeface="Calibri" pitchFamily="34" charset="0"/>
                <a:ea typeface="Calibri" pitchFamily="34" charset="-122"/>
                <a:cs typeface="Calibri" pitchFamily="34" charset="-120"/>
              </a:rPr>
              <a:t>3 lender design partners on real, closed cases</a:t>
            </a:r>
            <a:endParaRPr lang="en-US" sz="1000" dirty="0"/>
          </a:p>
          <a:p>
            <a:pPr marL="342900" indent="-342900">
              <a:spcAft>
                <a:spcPts val="500"/>
              </a:spcAft>
              <a:buSzPct val="100000"/>
              <a:buChar char="•"/>
            </a:pPr>
            <a:r>
              <a:rPr lang="en-US" sz="1000" dirty="0">
                <a:solidFill>
                  <a:srgbClr val="2B2B2B"/>
                </a:solidFill>
                <a:latin typeface="Calibri" pitchFamily="34" charset="0"/>
                <a:ea typeface="Calibri" pitchFamily="34" charset="-122"/>
                <a:cs typeface="Calibri" pitchFamily="34" charset="-120"/>
              </a:rPr>
              <a:t>Measure live deals per underwriter and errors caught</a:t>
            </a:r>
            <a:endParaRPr lang="en-US" sz="1000" dirty="0"/>
          </a:p>
          <a:p>
            <a:pPr marL="342900" indent="-342900">
              <a:spcAft>
                <a:spcPts val="500"/>
              </a:spcAft>
              <a:buSzPct val="100000"/>
              <a:buChar char="•"/>
            </a:pPr>
            <a:r>
              <a:rPr lang="en-US" sz="1000" dirty="0">
                <a:solidFill>
                  <a:srgbClr val="2B2B2B"/>
                </a:solidFill>
                <a:latin typeface="Calibri" pitchFamily="34" charset="0"/>
                <a:ea typeface="Calibri" pitchFamily="34" charset="-122"/>
                <a:cs typeface="Calibri" pitchFamily="34" charset="-120"/>
              </a:rPr>
              <a:t>SEIS advance assurance; tech company structured separately from any lending entity</a:t>
            </a:r>
            <a:endParaRPr lang="en-US" sz="1000" dirty="0"/>
          </a:p>
        </p:txBody>
      </p:sp>
      <p:sp>
        <p:nvSpPr>
          <p:cNvPr id="7" name="Shape 5"/>
          <p:cNvSpPr/>
          <p:nvPr/>
        </p:nvSpPr>
        <p:spPr>
          <a:xfrm>
            <a:off x="3246120" y="1143000"/>
            <a:ext cx="2651760" cy="3246120"/>
          </a:xfrm>
          <a:prstGeom prst="roundRect">
            <a:avLst>
              <a:gd name="adj" fmla="val 2759"/>
            </a:avLst>
          </a:prstGeom>
          <a:solidFill>
            <a:srgbClr val="E6F0ED"/>
          </a:solidFill>
          <a:ln w="12700">
            <a:solidFill>
              <a:srgbClr val="E6F0ED"/>
            </a:solidFill>
            <a:prstDash val="solid"/>
          </a:ln>
        </p:spPr>
      </p:sp>
      <p:sp>
        <p:nvSpPr>
          <p:cNvPr id="8" name="Text 6"/>
          <p:cNvSpPr txBox="1"/>
          <p:nvPr/>
        </p:nvSpPr>
        <p:spPr>
          <a:xfrm>
            <a:off x="3429000" y="1261872"/>
            <a:ext cx="2286000" cy="274320"/>
          </a:xfrm>
          <a:prstGeom prst="rect">
            <a:avLst/>
          </a:prstGeom>
          <a:noFill/>
          <a:ln/>
        </p:spPr>
        <p:txBody>
          <a:bodyPr wrap="square" lIns="0" tIns="0" rIns="0" bIns="0" rtlCol="0" anchor="ctr"/>
          <a:lstStyle/>
          <a:p>
            <a:pPr indent="0" marL="0">
              <a:buNone/>
            </a:pPr>
            <a:r>
              <a:rPr lang="en-US" sz="1000" b="1" dirty="0">
                <a:solidFill>
                  <a:srgbClr val="B87333"/>
                </a:solidFill>
                <a:latin typeface="Calibri" pitchFamily="34" charset="0"/>
                <a:ea typeface="Calibri" pitchFamily="34" charset="-122"/>
                <a:cs typeface="Calibri" pitchFamily="34" charset="-120"/>
              </a:rPr>
              <a:t>H1 2027</a:t>
            </a:r>
            <a:endParaRPr lang="en-US" sz="1000" dirty="0"/>
          </a:p>
        </p:txBody>
      </p:sp>
      <p:sp>
        <p:nvSpPr>
          <p:cNvPr id="9" name="Text 7"/>
          <p:cNvSpPr txBox="1"/>
          <p:nvPr/>
        </p:nvSpPr>
        <p:spPr>
          <a:xfrm>
            <a:off x="3429000" y="1554480"/>
            <a:ext cx="2286000" cy="411480"/>
          </a:xfrm>
          <a:prstGeom prst="rect">
            <a:avLst/>
          </a:prstGeom>
          <a:noFill/>
          <a:ln/>
        </p:spPr>
        <p:txBody>
          <a:bodyPr wrap="square" lIns="0" tIns="0" rIns="0" bIns="0" rtlCol="0" anchor="ctr"/>
          <a:lstStyle/>
          <a:p>
            <a:pPr indent="0" marL="0">
              <a:buNone/>
            </a:pPr>
            <a:r>
              <a:rPr lang="en-US" sz="1800" b="1" dirty="0">
                <a:solidFill>
                  <a:srgbClr val="1F4E48"/>
                </a:solidFill>
                <a:latin typeface="Cambria" pitchFamily="34" charset="0"/>
                <a:ea typeface="Cambria" pitchFamily="34" charset="-122"/>
                <a:cs typeface="Cambria" pitchFamily="34" charset="-120"/>
              </a:rPr>
              <a:t>Sell it</a:t>
            </a:r>
            <a:endParaRPr lang="en-US" sz="1800" dirty="0"/>
          </a:p>
        </p:txBody>
      </p:sp>
      <p:sp>
        <p:nvSpPr>
          <p:cNvPr id="10" name="Text 8"/>
          <p:cNvSpPr txBox="1"/>
          <p:nvPr/>
        </p:nvSpPr>
        <p:spPr>
          <a:xfrm>
            <a:off x="3429000" y="2011680"/>
            <a:ext cx="2286000" cy="22860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2B2B2B"/>
                </a:solidFill>
                <a:latin typeface="Calibri" pitchFamily="34" charset="0"/>
                <a:ea typeface="Calibri" pitchFamily="34" charset="-122"/>
                <a:cs typeface="Calibri" pitchFamily="34" charset="-120"/>
              </a:rPr>
              <a:t>Per-case pricing live with 3–5 lenders</a:t>
            </a:r>
            <a:endParaRPr lang="en-US" sz="1000" dirty="0"/>
          </a:p>
          <a:p>
            <a:pPr marL="342900" indent="-342900">
              <a:spcAft>
                <a:spcPts val="500"/>
              </a:spcAft>
              <a:buSzPct val="100000"/>
              <a:buChar char="•"/>
            </a:pPr>
            <a:r>
              <a:rPr lang="en-US" sz="1000" dirty="0">
                <a:solidFill>
                  <a:srgbClr val="2B2B2B"/>
                </a:solidFill>
                <a:latin typeface="Calibri" pitchFamily="34" charset="0"/>
                <a:ea typeface="Calibri" pitchFamily="34" charset="-122"/>
                <a:cs typeface="Calibri" pitchFamily="34" charset="-120"/>
              </a:rPr>
              <a:t>Broker submissions handled end to end</a:t>
            </a:r>
            <a:endParaRPr lang="en-US" sz="1000" dirty="0"/>
          </a:p>
          <a:p>
            <a:pPr marL="342900" indent="-342900">
              <a:spcAft>
                <a:spcPts val="500"/>
              </a:spcAft>
              <a:buSzPct val="100000"/>
              <a:buChar char="•"/>
            </a:pPr>
            <a:r>
              <a:rPr lang="en-US" sz="1000" dirty="0">
                <a:solidFill>
                  <a:srgbClr val="2B2B2B"/>
                </a:solidFill>
                <a:latin typeface="Calibri" pitchFamily="34" charset="0"/>
                <a:ea typeface="Calibri" pitchFamily="34" charset="-122"/>
                <a:cs typeface="Calibri" pitchFamily="34" charset="-120"/>
              </a:rPr>
              <a:t>Compliance and audit trail designed in: every decision reconstructable</a:t>
            </a:r>
            <a:endParaRPr lang="en-US" sz="1000" dirty="0"/>
          </a:p>
          <a:p>
            <a:pPr marL="342900" indent="-342900">
              <a:spcAft>
                <a:spcPts val="500"/>
              </a:spcAft>
              <a:buSzPct val="100000"/>
              <a:buChar char="•"/>
            </a:pPr>
            <a:r>
              <a:rPr lang="en-US" sz="1000" dirty="0">
                <a:solidFill>
                  <a:srgbClr val="2B2B2B"/>
                </a:solidFill>
                <a:latin typeface="Calibri" pitchFamily="34" charset="0"/>
                <a:ea typeface="Calibri" pitchFamily="34" charset="-122"/>
                <a:cs typeface="Calibri" pitchFamily="34" charset="-120"/>
              </a:rPr>
              <a:t>Angel round under SEIS; technical co-founder in place</a:t>
            </a:r>
            <a:endParaRPr lang="en-US" sz="1000" dirty="0"/>
          </a:p>
        </p:txBody>
      </p:sp>
      <p:sp>
        <p:nvSpPr>
          <p:cNvPr id="11" name="Shape 9"/>
          <p:cNvSpPr/>
          <p:nvPr/>
        </p:nvSpPr>
        <p:spPr>
          <a:xfrm>
            <a:off x="6035040" y="1143000"/>
            <a:ext cx="2651760" cy="3246120"/>
          </a:xfrm>
          <a:prstGeom prst="roundRect">
            <a:avLst>
              <a:gd name="adj" fmla="val 2759"/>
            </a:avLst>
          </a:prstGeom>
          <a:solidFill>
            <a:srgbClr val="1F4E48"/>
          </a:solidFill>
          <a:ln w="12700">
            <a:solidFill>
              <a:srgbClr val="1F4E48"/>
            </a:solidFill>
            <a:prstDash val="solid"/>
          </a:ln>
        </p:spPr>
      </p:sp>
      <p:sp>
        <p:nvSpPr>
          <p:cNvPr id="12" name="Text 10"/>
          <p:cNvSpPr txBox="1"/>
          <p:nvPr/>
        </p:nvSpPr>
        <p:spPr>
          <a:xfrm>
            <a:off x="6217920" y="1261872"/>
            <a:ext cx="2286000" cy="274320"/>
          </a:xfrm>
          <a:prstGeom prst="rect">
            <a:avLst/>
          </a:prstGeom>
          <a:noFill/>
          <a:ln/>
        </p:spPr>
        <p:txBody>
          <a:bodyPr wrap="square" lIns="0" tIns="0" rIns="0" bIns="0" rtlCol="0" anchor="ctr"/>
          <a:lstStyle/>
          <a:p>
            <a:pPr indent="0" marL="0">
              <a:buNone/>
            </a:pPr>
            <a:r>
              <a:rPr lang="en-US" sz="1000" b="1" dirty="0">
                <a:solidFill>
                  <a:srgbClr val="E8C9AE"/>
                </a:solidFill>
                <a:latin typeface="Calibri" pitchFamily="34" charset="0"/>
                <a:ea typeface="Calibri" pitchFamily="34" charset="-122"/>
                <a:cs typeface="Calibri" pitchFamily="34" charset="-120"/>
              </a:rPr>
              <a:t>H2 2027 →</a:t>
            </a:r>
            <a:endParaRPr lang="en-US" sz="1000" dirty="0"/>
          </a:p>
        </p:txBody>
      </p:sp>
      <p:sp>
        <p:nvSpPr>
          <p:cNvPr id="13" name="Text 11"/>
          <p:cNvSpPr txBox="1"/>
          <p:nvPr/>
        </p:nvSpPr>
        <p:spPr>
          <a:xfrm>
            <a:off x="6217920" y="1554480"/>
            <a:ext cx="228600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Lend with it</a:t>
            </a:r>
            <a:endParaRPr lang="en-US" sz="1800" dirty="0"/>
          </a:p>
        </p:txBody>
      </p:sp>
      <p:sp>
        <p:nvSpPr>
          <p:cNvPr id="14" name="Text 12"/>
          <p:cNvSpPr txBox="1"/>
          <p:nvPr/>
        </p:nvSpPr>
        <p:spPr>
          <a:xfrm>
            <a:off x="6217920" y="2011680"/>
            <a:ext cx="2286000" cy="22860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E6F0ED"/>
                </a:solidFill>
                <a:latin typeface="Calibri" pitchFamily="34" charset="0"/>
                <a:ea typeface="Calibri" pitchFamily="34" charset="-122"/>
                <a:cs typeface="Calibri" pitchFamily="34" charset="-120"/>
              </a:rPr>
              <a:t>First loans on a partner funding line, deal by deal</a:t>
            </a:r>
            <a:endParaRPr lang="en-US" sz="1000" dirty="0"/>
          </a:p>
          <a:p>
            <a:pPr marL="342900" indent="-342900">
              <a:spcAft>
                <a:spcPts val="500"/>
              </a:spcAft>
              <a:buSzPct val="100000"/>
              <a:buChar char="•"/>
            </a:pPr>
            <a:r>
              <a:rPr lang="en-US" sz="1000" dirty="0">
                <a:solidFill>
                  <a:srgbClr val="E6F0ED"/>
                </a:solidFill>
                <a:latin typeface="Calibri" pitchFamily="34" charset="0"/>
                <a:ea typeface="Calibri" pitchFamily="34" charset="-122"/>
                <a:cs typeface="Calibri" pitchFamily="34" charset="-120"/>
              </a:rPr>
              <a:t>Human underwriters decide; the engine does the rest</a:t>
            </a:r>
            <a:endParaRPr lang="en-US" sz="1000" dirty="0"/>
          </a:p>
          <a:p>
            <a:pPr marL="342900" indent="-342900">
              <a:spcAft>
                <a:spcPts val="500"/>
              </a:spcAft>
              <a:buSzPct val="100000"/>
              <a:buChar char="•"/>
            </a:pPr>
            <a:r>
              <a:rPr lang="en-US" sz="1000" dirty="0">
                <a:solidFill>
                  <a:srgbClr val="E6F0ED"/>
                </a:solidFill>
                <a:latin typeface="Calibri" pitchFamily="34" charset="0"/>
                <a:ea typeface="Calibri" pitchFamily="34" charset="-122"/>
                <a:cs typeface="Calibri" pitchFamily="34" charset="-120"/>
              </a:rPr>
              <a:t>£50m book target by end of year 2</a:t>
            </a:r>
            <a:endParaRPr lang="en-US" sz="1000" dirty="0"/>
          </a:p>
          <a:p>
            <a:pPr marL="342900" indent="-342900">
              <a:spcAft>
                <a:spcPts val="500"/>
              </a:spcAft>
              <a:buSzPct val="100000"/>
              <a:buChar char="•"/>
            </a:pPr>
            <a:r>
              <a:rPr lang="en-US" sz="1000" dirty="0">
                <a:solidFill>
                  <a:srgbClr val="E6F0ED"/>
                </a:solidFill>
                <a:latin typeface="Calibri" pitchFamily="34" charset="0"/>
                <a:ea typeface="Calibri" pitchFamily="34" charset="-122"/>
                <a:cs typeface="Calibri" pitchFamily="34" charset="-120"/>
              </a:rPr>
              <a:t>Facility funding once track record exists</a:t>
            </a:r>
            <a:endParaRPr lang="en-US" sz="1000" dirty="0"/>
          </a:p>
        </p:txBody>
      </p:sp>
      <p:sp>
        <p:nvSpPr>
          <p:cNvPr id="15" name="Text 13"/>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900" dirty="0">
                <a:solidFill>
                  <a:srgbClr val="6B7674"/>
                </a:solidFill>
                <a:latin typeface="Calibri" pitchFamily="34" charset="0"/>
                <a:ea typeface="Calibri" pitchFamily="34" charset="-122"/>
                <a:cs typeface="Calibri" pitchFamily="34" charset="-120"/>
              </a:rPr>
              <a:t>Regulatory note: consumer bridging is FCA-regulated; the initial focus is unregulated commercial and investment lending. Counsel engaged before loan one.</a:t>
            </a:r>
            <a:endParaRPr lang="en-US" sz="900" dirty="0"/>
          </a:p>
        </p:txBody>
      </p:sp>
      <p:sp>
        <p:nvSpPr>
          <p:cNvPr id="16" name="Text 14"/>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17" name="Text 15"/>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4E48"/>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274320"/>
          </a:xfrm>
          <a:prstGeom prst="rect">
            <a:avLst/>
          </a:prstGeom>
          <a:noFill/>
          <a:ln/>
        </p:spPr>
        <p:txBody>
          <a:bodyPr wrap="square" lIns="0" tIns="0" rIns="0" bIns="0" rtlCol="0" anchor="ctr"/>
          <a:lstStyle/>
          <a:p>
            <a:pPr indent="0" marL="0">
              <a:buNone/>
            </a:pPr>
            <a:r>
              <a:rPr lang="en-US" sz="1100" b="1" dirty="0">
                <a:solidFill>
                  <a:srgbClr val="9FBFB8"/>
                </a:solidFill>
                <a:latin typeface="Calibri" pitchFamily="34" charset="0"/>
                <a:ea typeface="Calibri" pitchFamily="34" charset="-122"/>
                <a:cs typeface="Calibri" pitchFamily="34" charset="-120"/>
              </a:rPr>
              <a:t>WHERE THIS GOES</a:t>
            </a:r>
            <a:endParaRPr lang="en-US" sz="1100" dirty="0"/>
          </a:p>
        </p:txBody>
      </p:sp>
      <p:sp>
        <p:nvSpPr>
          <p:cNvPr id="3" name="Text 1"/>
          <p:cNvSpPr txBox="1"/>
          <p:nvPr/>
        </p:nvSpPr>
        <p:spPr>
          <a:xfrm>
            <a:off x="548640" y="621792"/>
            <a:ext cx="80467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one-person lending company</a:t>
            </a:r>
            <a:endParaRPr lang="en-US" sz="2800" dirty="0"/>
          </a:p>
        </p:txBody>
      </p:sp>
      <p:sp>
        <p:nvSpPr>
          <p:cNvPr id="4" name="Shape 2"/>
          <p:cNvSpPr/>
          <p:nvPr/>
        </p:nvSpPr>
        <p:spPr>
          <a:xfrm>
            <a:off x="548640" y="1325880"/>
            <a:ext cx="2560320" cy="2194560"/>
          </a:xfrm>
          <a:prstGeom prst="roundRect">
            <a:avLst>
              <a:gd name="adj" fmla="val 3333"/>
            </a:avLst>
          </a:prstGeom>
          <a:solidFill>
            <a:srgbClr val="2A5F58"/>
          </a:solidFill>
          <a:ln w="12700">
            <a:solidFill>
              <a:srgbClr val="2A5F58"/>
            </a:solidFill>
            <a:prstDash val="solid"/>
          </a:ln>
        </p:spPr>
      </p:sp>
      <p:sp>
        <p:nvSpPr>
          <p:cNvPr id="5" name="Text 3"/>
          <p:cNvSpPr txBox="1"/>
          <p:nvPr/>
        </p:nvSpPr>
        <p:spPr>
          <a:xfrm>
            <a:off x="731520" y="1463040"/>
            <a:ext cx="2194560" cy="274320"/>
          </a:xfrm>
          <a:prstGeom prst="rect">
            <a:avLst/>
          </a:prstGeom>
          <a:noFill/>
          <a:ln/>
        </p:spPr>
        <p:txBody>
          <a:bodyPr wrap="square" lIns="0" tIns="0" rIns="0" bIns="0" rtlCol="0" anchor="ctr"/>
          <a:lstStyle/>
          <a:p>
            <a:pPr indent="0" marL="0">
              <a:buNone/>
            </a:pPr>
            <a:r>
              <a:rPr lang="en-US" sz="1000" b="1" dirty="0">
                <a:solidFill>
                  <a:srgbClr val="E8C9AE"/>
                </a:solidFill>
                <a:latin typeface="Calibri" pitchFamily="34" charset="0"/>
                <a:ea typeface="Calibri" pitchFamily="34" charset="-122"/>
                <a:cs typeface="Calibri" pitchFamily="34" charset="-120"/>
              </a:rPr>
              <a:t>NOW</a:t>
            </a:r>
            <a:endParaRPr lang="en-US" sz="1000" dirty="0"/>
          </a:p>
        </p:txBody>
      </p:sp>
      <p:sp>
        <p:nvSpPr>
          <p:cNvPr id="6" name="Text 4"/>
          <p:cNvSpPr txBox="1"/>
          <p:nvPr/>
        </p:nvSpPr>
        <p:spPr>
          <a:xfrm>
            <a:off x="731520" y="1719072"/>
            <a:ext cx="2194560" cy="3657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Capacity</a:t>
            </a:r>
            <a:endParaRPr lang="en-US" sz="1500" dirty="0"/>
          </a:p>
        </p:txBody>
      </p:sp>
      <p:sp>
        <p:nvSpPr>
          <p:cNvPr id="7" name="Text 5"/>
          <p:cNvSpPr txBox="1"/>
          <p:nvPr/>
        </p:nvSpPr>
        <p:spPr>
          <a:xfrm>
            <a:off x="731520" y="2148840"/>
            <a:ext cx="2194560" cy="1298448"/>
          </a:xfrm>
          <a:prstGeom prst="rect">
            <a:avLst/>
          </a:prstGeom>
          <a:noFill/>
          <a:ln/>
        </p:spPr>
        <p:txBody>
          <a:bodyPr wrap="square" lIns="0" tIns="0" rIns="0" bIns="0" rtlCol="0" anchor="t"/>
          <a:lstStyle/>
          <a:p>
            <a:pPr indent="0" marL="0">
              <a:buNone/>
            </a:pPr>
            <a:r>
              <a:rPr lang="en-US" sz="1000" dirty="0">
                <a:solidFill>
                  <a:srgbClr val="E6F0ED"/>
                </a:solidFill>
                <a:latin typeface="Calibri" pitchFamily="34" charset="0"/>
                <a:ea typeface="Calibri" pitchFamily="34" charset="-122"/>
                <a:cs typeface="Calibri" pitchFamily="34" charset="-120"/>
              </a:rPr>
              <a:t>Valuers, monitoring surveyors and solicitors set the pace. Agents hold every file while it waits, so one underwriter carries 120–200 live deals instead of 15–25. The lender grows without hiring.</a:t>
            </a:r>
            <a:endParaRPr lang="en-US" sz="1000" dirty="0"/>
          </a:p>
        </p:txBody>
      </p:sp>
      <p:sp>
        <p:nvSpPr>
          <p:cNvPr id="8" name="Shape 6"/>
          <p:cNvSpPr/>
          <p:nvPr/>
        </p:nvSpPr>
        <p:spPr>
          <a:xfrm>
            <a:off x="3291840" y="1325880"/>
            <a:ext cx="2560320" cy="2194560"/>
          </a:xfrm>
          <a:prstGeom prst="roundRect">
            <a:avLst>
              <a:gd name="adj" fmla="val 3333"/>
            </a:avLst>
          </a:prstGeom>
          <a:solidFill>
            <a:srgbClr val="2A5F58"/>
          </a:solidFill>
          <a:ln w="12700">
            <a:solidFill>
              <a:srgbClr val="2A5F58"/>
            </a:solidFill>
            <a:prstDash val="solid"/>
          </a:ln>
        </p:spPr>
      </p:sp>
      <p:sp>
        <p:nvSpPr>
          <p:cNvPr id="9" name="Text 7"/>
          <p:cNvSpPr txBox="1"/>
          <p:nvPr/>
        </p:nvSpPr>
        <p:spPr>
          <a:xfrm>
            <a:off x="3474720" y="1463040"/>
            <a:ext cx="2194560" cy="274320"/>
          </a:xfrm>
          <a:prstGeom prst="rect">
            <a:avLst/>
          </a:prstGeom>
          <a:noFill/>
          <a:ln/>
        </p:spPr>
        <p:txBody>
          <a:bodyPr wrap="square" lIns="0" tIns="0" rIns="0" bIns="0" rtlCol="0" anchor="ctr"/>
          <a:lstStyle/>
          <a:p>
            <a:pPr indent="0" marL="0">
              <a:buNone/>
            </a:pPr>
            <a:r>
              <a:rPr lang="en-US" sz="1000" b="1" dirty="0">
                <a:solidFill>
                  <a:srgbClr val="E8C9AE"/>
                </a:solidFill>
                <a:latin typeface="Calibri" pitchFamily="34" charset="0"/>
                <a:ea typeface="Calibri" pitchFamily="34" charset="-122"/>
                <a:cs typeface="Calibri" pitchFamily="34" charset="-120"/>
              </a:rPr>
              <a:t>NEXT</a:t>
            </a:r>
            <a:endParaRPr lang="en-US" sz="1000" dirty="0"/>
          </a:p>
        </p:txBody>
      </p:sp>
      <p:sp>
        <p:nvSpPr>
          <p:cNvPr id="10" name="Text 8"/>
          <p:cNvSpPr txBox="1"/>
          <p:nvPr/>
        </p:nvSpPr>
        <p:spPr>
          <a:xfrm>
            <a:off x="3474720" y="1719072"/>
            <a:ext cx="2194560" cy="3657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The instant transaction</a:t>
            </a:r>
            <a:endParaRPr lang="en-US" sz="1500" dirty="0"/>
          </a:p>
        </p:txBody>
      </p:sp>
      <p:sp>
        <p:nvSpPr>
          <p:cNvPr id="11" name="Text 9"/>
          <p:cNvSpPr txBox="1"/>
          <p:nvPr/>
        </p:nvSpPr>
        <p:spPr>
          <a:xfrm>
            <a:off x="3474720" y="2148840"/>
            <a:ext cx="2194560" cy="1298448"/>
          </a:xfrm>
          <a:prstGeom prst="rect">
            <a:avLst/>
          </a:prstGeom>
          <a:noFill/>
          <a:ln/>
        </p:spPr>
        <p:txBody>
          <a:bodyPr wrap="square" lIns="0" tIns="0" rIns="0" bIns="0" rtlCol="0" anchor="t"/>
          <a:lstStyle/>
          <a:p>
            <a:pPr indent="0" marL="0">
              <a:buNone/>
            </a:pPr>
            <a:r>
              <a:rPr lang="en-US" sz="1000" dirty="0">
                <a:solidFill>
                  <a:srgbClr val="E6F0ED"/>
                </a:solidFill>
                <a:latin typeface="Calibri" pitchFamily="34" charset="0"/>
                <a:ea typeface="Calibri" pitchFamily="34" charset="-122"/>
                <a:cs typeface="Calibri" pitchFamily="34" charset="-120"/>
              </a:rPr>
              <a:t>The third parties go AI too: automated valuations, AI-assisted monitoring reports, near-instant legal and title work. When they speed up, a lender run by people becomes the bottleneck. An AI-native lender keeps pace.</a:t>
            </a:r>
            <a:endParaRPr lang="en-US" sz="1000" dirty="0"/>
          </a:p>
        </p:txBody>
      </p:sp>
      <p:sp>
        <p:nvSpPr>
          <p:cNvPr id="12" name="Shape 10"/>
          <p:cNvSpPr/>
          <p:nvPr/>
        </p:nvSpPr>
        <p:spPr>
          <a:xfrm>
            <a:off x="6035040" y="1325880"/>
            <a:ext cx="2560320" cy="2194560"/>
          </a:xfrm>
          <a:prstGeom prst="roundRect">
            <a:avLst>
              <a:gd name="adj" fmla="val 3333"/>
            </a:avLst>
          </a:prstGeom>
          <a:solidFill>
            <a:srgbClr val="B87333"/>
          </a:solidFill>
          <a:ln w="12700">
            <a:solidFill>
              <a:srgbClr val="B87333"/>
            </a:solidFill>
            <a:prstDash val="solid"/>
          </a:ln>
        </p:spPr>
      </p:sp>
      <p:sp>
        <p:nvSpPr>
          <p:cNvPr id="13" name="Text 11"/>
          <p:cNvSpPr txBox="1"/>
          <p:nvPr/>
        </p:nvSpPr>
        <p:spPr>
          <a:xfrm>
            <a:off x="6217920" y="1463040"/>
            <a:ext cx="219456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VISION</a:t>
            </a:r>
            <a:endParaRPr lang="en-US" sz="1000" dirty="0"/>
          </a:p>
        </p:txBody>
      </p:sp>
      <p:sp>
        <p:nvSpPr>
          <p:cNvPr id="14" name="Text 12"/>
          <p:cNvSpPr txBox="1"/>
          <p:nvPr/>
        </p:nvSpPr>
        <p:spPr>
          <a:xfrm>
            <a:off x="6217920" y="1719072"/>
            <a:ext cx="2194560" cy="3657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Lending that runs itself</a:t>
            </a:r>
            <a:endParaRPr lang="en-US" sz="1500" dirty="0"/>
          </a:p>
        </p:txBody>
      </p:sp>
      <p:sp>
        <p:nvSpPr>
          <p:cNvPr id="15" name="Text 13"/>
          <p:cNvSpPr txBox="1"/>
          <p:nvPr/>
        </p:nvSpPr>
        <p:spPr>
          <a:xfrm>
            <a:off x="6217920" y="2148840"/>
            <a:ext cx="2194560" cy="1298448"/>
          </a:xfrm>
          <a:prstGeom prst="rect">
            <a:avLst/>
          </a:prstGeom>
          <a:noFill/>
          <a:ln/>
        </p:spPr>
        <p:txBody>
          <a:bodyPr wrap="square" lIns="0" tIns="0" rIns="0" bIns="0" rtlCol="0" anchor="t"/>
          <a:lstStyle/>
          <a:p>
            <a:pPr indent="0" marL="0">
              <a:buNone/>
            </a:pPr>
            <a:r>
              <a:rPr lang="en-US" sz="1000" dirty="0">
                <a:solidFill>
                  <a:srgbClr val="E6F0ED"/>
                </a:solidFill>
                <a:latin typeface="Calibri" pitchFamily="34" charset="0"/>
                <a:ea typeface="Calibri" pitchFamily="34" charset="-122"/>
                <a:cs typeface="Calibri" pitchFamily="34" charset="-120"/>
              </a:rPr>
              <a:t>Agents originate, underwrite, complete, monitor and redeem. One person sets the credit appetite, signs the decisions and owns the funder relationships. The lending business becomes a platform.</a:t>
            </a:r>
            <a:endParaRPr lang="en-US" sz="1000" dirty="0"/>
          </a:p>
        </p:txBody>
      </p:sp>
      <p:sp>
        <p:nvSpPr>
          <p:cNvPr id="16" name="Text 14"/>
          <p:cNvSpPr txBox="1"/>
          <p:nvPr/>
        </p:nvSpPr>
        <p:spPr>
          <a:xfrm>
            <a:off x="548640" y="3749040"/>
            <a:ext cx="8046720" cy="82296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“The logical outcome of this trend is a near-instant real estate transaction… From a technical perspective, I would imagine less than five years.”</a:t>
            </a:r>
            <a:endParaRPr lang="en-US" sz="1200" dirty="0"/>
          </a:p>
          <a:p>
            <a:pPr indent="0" marL="0">
              <a:buNone/>
            </a:pPr>
            <a:r>
              <a:rPr lang="en-US" sz="950" dirty="0">
                <a:solidFill>
                  <a:srgbClr val="9FBFB8"/>
                </a:solidFill>
                <a:latin typeface="Calibri" pitchFamily="34" charset="0"/>
                <a:ea typeface="Calibri" pitchFamily="34" charset="-122"/>
                <a:cs typeface="Calibri" pitchFamily="34" charset="-120"/>
              </a:rPr>
              <a:t>Will Pearce, Orbital (AI for real estate legal work)</a:t>
            </a:r>
            <a:endParaRPr lang="en-US" sz="1200" dirty="0"/>
          </a:p>
        </p:txBody>
      </p:sp>
      <p:sp>
        <p:nvSpPr>
          <p:cNvPr id="17" name="Text 15"/>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18" name="Text 1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4E48"/>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365760"/>
          </a:xfrm>
          <a:prstGeom prst="rect">
            <a:avLst/>
          </a:prstGeom>
          <a:noFill/>
          <a:ln/>
        </p:spPr>
        <p:txBody>
          <a:bodyPr wrap="square" lIns="0" tIns="0" rIns="0" bIns="0" rtlCol="0" anchor="ctr"/>
          <a:lstStyle/>
          <a:p>
            <a:pPr indent="0" marL="0">
              <a:buNone/>
            </a:pPr>
            <a:r>
              <a:rPr lang="en-US" sz="1100" b="1" dirty="0">
                <a:solidFill>
                  <a:srgbClr val="9FBFB8"/>
                </a:solidFill>
                <a:latin typeface="Calibri" pitchFamily="34" charset="0"/>
                <a:ea typeface="Calibri" pitchFamily="34" charset="-122"/>
                <a:cs typeface="Calibri" pitchFamily="34" charset="-120"/>
              </a:rPr>
              <a:t>Founder</a:t>
            </a:r>
            <a:endParaRPr lang="en-US" sz="1100" dirty="0"/>
          </a:p>
        </p:txBody>
      </p:sp>
      <p:sp>
        <p:nvSpPr>
          <p:cNvPr id="3" name="Text 1"/>
          <p:cNvSpPr txBox="1"/>
          <p:nvPr/>
        </p:nvSpPr>
        <p:spPr>
          <a:xfrm>
            <a:off x="548640" y="777240"/>
            <a:ext cx="402336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Lisa Huang</a:t>
            </a:r>
            <a:endParaRPr lang="en-US" sz="2800" dirty="0"/>
          </a:p>
        </p:txBody>
      </p:sp>
      <p:sp>
        <p:nvSpPr>
          <p:cNvPr id="4" name="Text 2"/>
          <p:cNvSpPr txBox="1"/>
          <p:nvPr/>
        </p:nvSpPr>
        <p:spPr>
          <a:xfrm>
            <a:off x="548640" y="1371600"/>
            <a:ext cx="4023360" cy="27432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E6F0ED"/>
                </a:solidFill>
                <a:latin typeface="Calibri" pitchFamily="34" charset="0"/>
                <a:ea typeface="Calibri" pitchFamily="34" charset="-122"/>
                <a:cs typeface="Calibri" pitchFamily="34" charset="-120"/>
              </a:rPr>
              <a:t>Credit analyst at a London specialist lender: ~25 bridging and development loans completed in a year, 15–25 live cases at a time, completions in 15–28 days.</a:t>
            </a:r>
            <a:endParaRPr lang="en-US" sz="1150" dirty="0"/>
          </a:p>
          <a:p>
            <a:pPr marL="342900" indent="-342900">
              <a:spcAft>
                <a:spcPts val="600"/>
              </a:spcAft>
              <a:buSzPct val="100000"/>
              <a:buChar char="•"/>
            </a:pPr>
            <a:r>
              <a:rPr lang="en-US" sz="1150" dirty="0">
                <a:solidFill>
                  <a:srgbClr val="E6F0ED"/>
                </a:solidFill>
                <a:latin typeface="Calibri" pitchFamily="34" charset="0"/>
                <a:ea typeface="Calibri" pitchFamily="34" charset="-122"/>
                <a:cs typeface="Calibri" pitchFamily="34" charset="-120"/>
              </a:rPr>
              <a:t>Five years managing a ~£400m commercial portfolio in Shanghai; supported a £300m industrial park sale.</a:t>
            </a:r>
            <a:endParaRPr lang="en-US" sz="1150" dirty="0"/>
          </a:p>
          <a:p>
            <a:pPr marL="342900" indent="-342900">
              <a:spcAft>
                <a:spcPts val="600"/>
              </a:spcAft>
              <a:buSzPct val="100000"/>
              <a:buChar char="•"/>
            </a:pPr>
            <a:r>
              <a:rPr lang="en-US" sz="1150" dirty="0">
                <a:solidFill>
                  <a:srgbClr val="E6F0ED"/>
                </a:solidFill>
                <a:latin typeface="Calibri" pitchFamily="34" charset="0"/>
                <a:ea typeface="Calibri" pitchFamily="34" charset="-122"/>
                <a:cs typeface="Calibri" pitchFamily="34" charset="-120"/>
              </a:rPr>
              <a:t>Capital markets and advisory at Cushman &amp; Wakefield and CBRE.</a:t>
            </a:r>
            <a:endParaRPr lang="en-US" sz="1150" dirty="0"/>
          </a:p>
          <a:p>
            <a:pPr marL="342900" indent="-342900">
              <a:buSzPct val="100000"/>
              <a:buChar char="•"/>
            </a:pPr>
            <a:r>
              <a:rPr lang="en-US" sz="1150" dirty="0">
                <a:solidFill>
                  <a:srgbClr val="E6F0ED"/>
                </a:solidFill>
                <a:latin typeface="Calibri" pitchFamily="34" charset="0"/>
                <a:ea typeface="Calibri" pitchFamily="34" charset="-122"/>
                <a:cs typeface="Calibri" pitchFamily="34" charset="-120"/>
              </a:rPr>
              <a:t>MSc Real Estate Finance, Distinction (Henley). Builds with Cursor and Claude Code.</a:t>
            </a:r>
            <a:endParaRPr lang="en-US" sz="1150" dirty="0"/>
          </a:p>
        </p:txBody>
      </p:sp>
      <p:sp>
        <p:nvSpPr>
          <p:cNvPr id="5" name="Shape 3"/>
          <p:cNvSpPr/>
          <p:nvPr/>
        </p:nvSpPr>
        <p:spPr>
          <a:xfrm>
            <a:off x="4937760" y="548640"/>
            <a:ext cx="3657600" cy="4023360"/>
          </a:xfrm>
          <a:prstGeom prst="roundRect">
            <a:avLst>
              <a:gd name="adj" fmla="val 2000"/>
            </a:avLst>
          </a:prstGeom>
          <a:solidFill>
            <a:srgbClr val="2E8B7A"/>
          </a:solidFill>
          <a:ln w="12700">
            <a:solidFill>
              <a:srgbClr val="2E8B7A"/>
            </a:solidFill>
            <a:prstDash val="solid"/>
          </a:ln>
        </p:spPr>
      </p:sp>
      <p:sp>
        <p:nvSpPr>
          <p:cNvPr id="6" name="Text 4"/>
          <p:cNvSpPr txBox="1"/>
          <p:nvPr/>
        </p:nvSpPr>
        <p:spPr>
          <a:xfrm>
            <a:off x="5166360" y="685800"/>
            <a:ext cx="32004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ask</a:t>
            </a:r>
            <a:endParaRPr lang="en-US" sz="2200" dirty="0"/>
          </a:p>
        </p:txBody>
      </p:sp>
      <p:sp>
        <p:nvSpPr>
          <p:cNvPr id="7" name="Text 5"/>
          <p:cNvSpPr txBox="1"/>
          <p:nvPr/>
        </p:nvSpPr>
        <p:spPr>
          <a:xfrm>
            <a:off x="5166360" y="1188720"/>
            <a:ext cx="3200400" cy="32004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A technical co-founder</a:t>
            </a:r>
            <a:endParaRPr lang="en-US" sz="1100" dirty="0"/>
          </a:p>
          <a:p>
            <a:pPr indent="0" marL="0">
              <a:spcAft>
                <a:spcPts val="800"/>
              </a:spcAft>
              <a:buNone/>
            </a:pPr>
            <a:r>
              <a:rPr lang="en-US" sz="1100" dirty="0">
                <a:solidFill>
                  <a:srgbClr val="FFFFFF"/>
                </a:solidFill>
                <a:latin typeface="Calibri" pitchFamily="34" charset="0"/>
                <a:ea typeface="Calibri" pitchFamily="34" charset="-122"/>
                <a:cs typeface="Calibri" pitchFamily="34" charset="-120"/>
              </a:rPr>
              <a:t>who can turn a working underwriting demo into a product a regulated lender will trust.</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Antler's £210k buys</a:t>
            </a:r>
            <a:endParaRPr lang="en-US" sz="1100" dirty="0"/>
          </a:p>
          <a:p>
            <a:pPr indent="0" marL="0">
              <a:spcAft>
                <a:spcPts val="800"/>
              </a:spcAft>
              <a:buNone/>
            </a:pPr>
            <a:r>
              <a:rPr lang="en-US" sz="1100" dirty="0">
                <a:solidFill>
                  <a:srgbClr val="FFFFFF"/>
                </a:solidFill>
                <a:latin typeface="Calibri" pitchFamily="34" charset="0"/>
                <a:ea typeface="Calibri" pitchFamily="34" charset="-122"/>
                <a:cs typeface="Calibri" pitchFamily="34" charset="-120"/>
              </a:rPr>
              <a:t>six months of two founders full-time, v1 of the engine, three design partners on live cases, and SEIS advance assurance in hand for the angel round.</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What you get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 domain founder who has done the job by hand, one underwriter carrying 200 live deals instead of 15–25, and a model that makes £3.8m where the incumbent makes £0.7m.</a:t>
            </a:r>
            <a:endParaRPr lang="en-US" sz="1100" dirty="0"/>
          </a:p>
        </p:txBody>
      </p:sp>
      <p:sp>
        <p:nvSpPr>
          <p:cNvPr id="8" name="Text 6"/>
          <p:cNvSpPr txBox="1"/>
          <p:nvPr/>
        </p:nvSpPr>
        <p:spPr>
          <a:xfrm>
            <a:off x="548640" y="4480560"/>
            <a:ext cx="5486400" cy="274320"/>
          </a:xfrm>
          <a:prstGeom prst="rect">
            <a:avLst/>
          </a:prstGeom>
          <a:noFill/>
          <a:ln/>
        </p:spPr>
        <p:txBody>
          <a:bodyPr wrap="square" lIns="0" tIns="0" rIns="0" bIns="0" rtlCol="0" anchor="ctr"/>
          <a:lstStyle/>
          <a:p>
            <a:pPr indent="0" marL="0">
              <a:buNone/>
            </a:pPr>
            <a:r>
              <a:rPr lang="en-US" sz="1000" dirty="0">
                <a:solidFill>
                  <a:srgbClr val="9FBFB8"/>
                </a:solidFill>
                <a:latin typeface="Calibri" pitchFamily="34" charset="0"/>
                <a:ea typeface="Calibri" pitchFamily="34" charset="-122"/>
                <a:cs typeface="Calibri" pitchFamily="34" charset="-120"/>
              </a:rPr>
              <a:t>lisawongcn@gmail.com  ·  linkedin.com/in/lisa-h-53139529a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777240"/>
          </a:xfrm>
          <a:prstGeom prst="rect">
            <a:avLst/>
          </a:prstGeom>
          <a:noFill/>
          <a:ln/>
        </p:spPr>
        <p:txBody>
          <a:bodyPr wrap="square" lIns="0" tIns="0" rIns="0" bIns="0" rtlCol="0" anchor="t"/>
          <a:lstStyle/>
          <a:p>
            <a:pPr indent="0" marL="0">
              <a:buNone/>
            </a:pPr>
            <a:r>
              <a:rPr lang="en-US" sz="2400" b="1" dirty="0">
                <a:solidFill>
                  <a:srgbClr val="1F4E48"/>
                </a:solidFill>
                <a:latin typeface="Cambria" pitchFamily="34" charset="0"/>
                <a:ea typeface="Cambria" pitchFamily="34" charset="-122"/>
                <a:cs typeface="Cambria" pitchFamily="34" charset="-120"/>
              </a:rPr>
              <a:t>Appendix: model assumptions</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651760"/>
                <a:gridCol w="1737360"/>
                <a:gridCol w="3840480"/>
              </a:tblGrid>
              <a:tr h="27432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Assumption</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4E48"/>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4E48"/>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Basis</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4E48"/>
                    </a:solidFill>
                  </a:tcPr>
                </a:tc>
              </a:tr>
              <a:tr h="27432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Loan book / blended loan / term</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£150m / £830k / 12 mo</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Founder: bridging £500–800k (institutional partner), development £1–1.5m (bank partner), 30% dev</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Loans completed / cases assessed per year</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181 / 724</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~1 in 4 assessed cases completes</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Borrower rate</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0.90% per month</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Lender calculator 0.95%; market average 0.81–0.84%</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Cost of funds / partner share</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8.75% pa / 95%</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Lender rate card: 8.25–9.75% at 95% advance; 5% first loss</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Arrangement fee charged / retained</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2.0% / 0.5%</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Introducer share paid away; £3k of admin and redemption fees per loan</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Expected credit loss</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0.5% of book pa</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Prudent; comparator reports zero capital losses</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Salaries and on-costs</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London 2025–26 bands</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Founder: analysts under £55k; other roles from job ads and guides; NI 15%, pension 5%, 8% other</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AI cost per case</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£16 + £50 data</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~320k tokens ≈ $2, ×10 safety factor; Land Registry, KYC, AVM, credit searches</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Underwriter hours per case</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12 / 1.5</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Traditional / AI-native. Founder estimate; to be measured with design partners</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Live deals per underwriter</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15–25 / 120–200</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Founder caseload today × capacity multiple (12 h ÷ 1.5 h = 8×)</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Text 1"/>
          <p:cNvSpPr txBox="1"/>
          <p:nvPr/>
        </p:nvSpPr>
        <p:spPr>
          <a:xfrm>
            <a:off x="457200" y="4480560"/>
            <a:ext cx="8229600" cy="301752"/>
          </a:xfrm>
          <a:prstGeom prst="rect">
            <a:avLst/>
          </a:prstGeom>
          <a:noFill/>
          <a:ln/>
        </p:spPr>
        <p:txBody>
          <a:bodyPr wrap="square" lIns="0" tIns="0" rIns="0" bIns="0" rtlCol="0" anchor="t"/>
          <a:lstStyle/>
          <a:p>
            <a:pPr indent="0" marL="0">
              <a:buNone/>
            </a:pPr>
            <a:r>
              <a:rPr lang="en-US" sz="900" dirty="0">
                <a:solidFill>
                  <a:srgbClr val="6B7674"/>
                </a:solidFill>
                <a:latin typeface="Calibri" pitchFamily="34" charset="0"/>
                <a:ea typeface="Calibri" pitchFamily="34" charset="-122"/>
                <a:cs typeface="Calibri" pitchFamily="34" charset="-120"/>
              </a:rPr>
              <a:t>Full model with sources: Verdigris_Economics_Model.xlsx. 'Northgate Bridging' is a fictional composite; no figure is a claim about a specific company.</a:t>
            </a:r>
            <a:endParaRPr lang="en-US" sz="900" dirty="0"/>
          </a:p>
        </p:txBody>
      </p:sp>
      <p:sp>
        <p:nvSpPr>
          <p:cNvPr id="5"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800" dirty="0">
                <a:solidFill>
                  <a:srgbClr val="6B7674"/>
                </a:solidFill>
                <a:latin typeface="Calibri" pitchFamily="34" charset="0"/>
                <a:ea typeface="Calibri" pitchFamily="34" charset="-122"/>
                <a:cs typeface="Calibri" pitchFamily="34" charset="-120"/>
              </a:rPr>
              <a:t>Verdigris — confidential</a:t>
            </a:r>
            <a:endParaRPr lang="en-US" sz="800" dirty="0"/>
          </a:p>
        </p:txBody>
      </p:sp>
      <p:sp>
        <p:nvSpPr>
          <p:cNvPr id="6" name="Text 3"/>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674"/>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Verdigris</dc:title>
  <dc:subject>PptxGenJS Presentation</dc:subject>
  <dc:creator>Lisa Huang</dc:creator>
  <cp:lastModifiedBy>Lisa Huang</cp:lastModifiedBy>
  <cp:revision>1</cp:revision>
  <dcterms:created xsi:type="dcterms:W3CDTF">2026-09-23T15:08:47Z</dcterms:created>
  <dcterms:modified xsi:type="dcterms:W3CDTF">2026-09-23T15:08:47Z</dcterms:modified>
</cp:coreProperties>
</file>