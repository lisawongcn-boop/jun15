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underwriter time</c:v>
                </c:pt>
              </c:strCache>
            </c:strRef>
          </c:tx>
          <c:spPr>
            <a:solidFill>
              <a:srgbClr val="2E8B7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8B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8B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8B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8733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8733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Reading documents</c:v>
                  </c:pt>
                  <c:pt idx="1">
                    <c:v>Chasing valuers, surveyors, solicitors</c:v>
                  </c:pt>
                  <c:pt idx="2">
                    <c:v>Reconciling valuer vs surveyor vs borrower</c:v>
                  </c:pt>
                  <c:pt idx="3">
                    <c:v>Writing the credit paper</c:v>
                  </c:pt>
                  <c:pt idx="4">
                    <c:v>Deciding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10</c:v>
                </c:pt>
                <c:pt idx="4">
                  <c:v>10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2B2B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Northgate (traditional)</c:v>
                </c:pt>
              </c:strCache>
            </c:strRef>
          </c:tx>
          <c:spPr>
            <a:solidFill>
              <a:srgbClr val="9FBFB8"/>
            </a:solidFill>
            <a:effectLst/>
          </c:spPr>
          <c:invertIfNegative val="0"/>
          <c:dLbls>
            <c:numFmt formatCode="#,##0.0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Headcount</c:v>
                  </c:pt>
                  <c:pt idx="1">
                    <c:v>Operating cost £m</c:v>
                  </c:pt>
                  <c:pt idx="2">
                    <c:v>Operating profit £m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37</c:v>
                </c:pt>
                <c:pt idx="1">
                  <c:v>4.14</c:v>
                </c:pt>
                <c:pt idx="2">
                  <c:v>0.68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Verdigris (AI-native)</c:v>
                </c:pt>
              </c:strCache>
            </c:strRef>
          </c:tx>
          <c:spPr>
            <a:solidFill>
              <a:srgbClr val="2E8B7A"/>
            </a:solidFill>
            <a:effectLst/>
          </c:spPr>
          <c:invertIfNegative val="0"/>
          <c:dLbls>
            <c:numFmt formatCode="#,##0.0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Headcount</c:v>
                  </c:pt>
                  <c:pt idx="1">
                    <c:v>Operating cost £m</c:v>
                  </c:pt>
                  <c:pt idx="2">
                    <c:v>Operating profit £m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</c:v>
                </c:pt>
                <c:pt idx="1">
                  <c:v>1.01</c:v>
                </c:pt>
                <c:pt idx="2">
                  <c:v>3.82</c:v>
                </c:pt>
              </c:numCache>
            </c:numRef>
          </c:val>
        </c:ser>
        <c:dLbls>
          <c:numFmt formatCode="#,##0.0#" sourceLinked="0"/>
          <c:txPr>
            <a:bodyPr/>
            <a:lstStyle/>
            <a:p>
              <a:pPr>
                <a:defRPr b="0" i="0" strike="noStrike" sz="1000" u="none">
                  <a:solidFill>
                    <a:srgbClr val="2B2B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B2B2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B2B2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B2B2B"/>
                </a:solidFill>
                <a:latin typeface="Arial"/>
              </a:rPr>
              <a:t>People needed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Northgate headcount</c:v>
                </c:pt>
              </c:strCache>
            </c:strRef>
          </c:tx>
          <c:spPr>
            <a:solidFill>
              <a:srgbClr val="9FBFB8"/>
            </a:solidFill>
            <a:ln w="38100" cap="flat">
              <a:solidFill>
                <a:srgbClr val="9FBFB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FBFB8"/>
              </a:solidFill>
              <a:ln w="9525" cap="flat">
                <a:solidFill>
                  <a:srgbClr val="9FBF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£150m book</c:v>
                  </c:pt>
                  <c:pt idx="1">
                    <c:v>£300m book</c:v>
                  </c:pt>
                  <c:pt idx="2">
                    <c:v>£600m book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37</c:v>
                </c:pt>
                <c:pt idx="1">
                  <c:v>69</c:v>
                </c:pt>
                <c:pt idx="2">
                  <c:v>133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Verdigris headcount</c:v>
                </c:pt>
              </c:strCache>
            </c:strRef>
          </c:tx>
          <c:spPr>
            <a:solidFill>
              <a:srgbClr val="2E8B7A"/>
            </a:solidFill>
            <a:ln w="38100" cap="flat">
              <a:solidFill>
                <a:srgbClr val="2E8B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E8B7A"/>
              </a:solidFill>
              <a:ln w="9525" cap="flat">
                <a:solidFill>
                  <a:srgbClr val="2E8B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£150m book</c:v>
                  </c:pt>
                  <c:pt idx="1">
                    <c:v>£300m book</c:v>
                  </c:pt>
                  <c:pt idx="2">
                    <c:v>£600m book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</c:v>
                </c:pt>
                <c:pt idx="1">
                  <c:v>11</c:v>
                </c:pt>
                <c:pt idx="2">
                  <c:v>17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B2B2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B2B2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B2B2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B2B2B"/>
                </a:solidFill>
                <a:latin typeface="Arial"/>
              </a:rPr>
              <a:t>Operating profit, £m a year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Northgate profit £m</c:v>
                </c:pt>
              </c:strCache>
            </c:strRef>
          </c:tx>
          <c:spPr>
            <a:solidFill>
              <a:srgbClr val="9FBFB8"/>
            </a:solidFill>
            <a:ln w="38100" cap="flat">
              <a:solidFill>
                <a:srgbClr val="9FBF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FBFB8"/>
              </a:solidFill>
              <a:ln w="9525" cap="flat">
                <a:solidFill>
                  <a:srgbClr val="9FBF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£150m book</c:v>
                  </c:pt>
                  <c:pt idx="1">
                    <c:v>£300m book</c:v>
                  </c:pt>
                  <c:pt idx="2">
                    <c:v>£600m book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</c:v>
                </c:pt>
                <c:pt idx="1">
                  <c:v>2.4</c:v>
                </c:pt>
                <c:pt idx="2">
                  <c:v>5.9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Verdigris profit £m</c:v>
                </c:pt>
              </c:strCache>
            </c:strRef>
          </c:tx>
          <c:spPr>
            <a:solidFill>
              <a:srgbClr val="B87333"/>
            </a:solidFill>
            <a:ln w="38100" cap="flat">
              <a:solidFill>
                <a:srgbClr val="B87333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B87333"/>
              </a:solidFill>
              <a:ln w="9525" cap="flat">
                <a:solidFill>
                  <a:srgbClr val="B87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£150m book</c:v>
                  </c:pt>
                  <c:pt idx="1">
                    <c:v>£300m book</c:v>
                  </c:pt>
                  <c:pt idx="2">
                    <c:v>£600m book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3.8</c:v>
                </c:pt>
                <c:pt idx="1">
                  <c:v>8.2</c:v>
                </c:pt>
                <c:pt idx="2">
                  <c:v>17</c:v>
                </c:pt>
              </c:numCache>
            </c:numRef>
          </c:val>
          <c:smooth val="0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B2B2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B2B2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Verdigris is an AI-native lender. I underwrite bridging loans for a living; the product encodes that judgement so a small team can run a large 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Composite of a typical mid-size London lender. Headcount shape from my own experience; market figures from Bridging Trends and BDLA.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inputs are in the accompanying spreadsheet, each with its source. Northgate is a composite, not a real company.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people: two founders, two senior underwriters who review and decide, one ops, one compliance, one BDM, one engineer. AI cost is £16 per case with a 10x safety factor, plus £50 of data searches. Traditional profit £0.68m, AI-native £3.82m on £4.8m net revenue.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in build with Cursor and Claude Code. Underwriting logic encoded from my own completed loans; tested against cases where I already know the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28600"/>
            <a:ext cx="3108960" cy="3108960"/>
          </a:xfrm>
          <a:prstGeom prst="ellipse">
            <a:avLst/>
          </a:prstGeom>
          <a:solidFill>
            <a:srgbClr val="2E8B7A"/>
          </a:solidFill>
          <a:ln w="12700">
            <a:solidFill>
              <a:srgbClr val="2E8B7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3566160"/>
            <a:ext cx="2011680" cy="201168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Verdigris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underwriting for UK bridging and development finance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260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deal in. A credible credit pack out. In hours, not weeks.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97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Lisa Huang  ·  Antler UK residency application  ·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£150m bridging lender needs 37 people. Most of them never make a credit decision.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258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43–53 days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0391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bridging completion time in the UK market (Bridging Trends 2025–26)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3258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15–23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0391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cases each underwriter carries at once; ~2 complete a month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3258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~12 hrs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0391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underwriter time per assessed case, most of it reading and chasing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880360"/>
            <a:ext cx="8229600" cy="1645920"/>
          </a:xfrm>
          <a:prstGeom prst="roundRect">
            <a:avLst>
              <a:gd name="adj" fmla="val 4444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17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37 people actually do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3832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in credit read valuations, monitoring-surveyor reports and bank statements, then reconcile the three parties who disagree.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in portfolio chase solicitors, valuers and surveyors for documents, then service the loan to redemption.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in sales, 4 in marketing, 4 in tech and 5 in management keep the pipeline full and the lights on.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credit decision itself, the thing borrowers and funders pay for, is a fraction of anyone's week.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Verdigris — confidential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underwriting hours go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1206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852160" y="1143000"/>
            <a:ext cx="2834640" cy="3291840"/>
          </a:xfrm>
          <a:prstGeom prst="roundRect">
            <a:avLst>
              <a:gd name="adj" fmla="val 2581"/>
            </a:avLst>
          </a:prstGeom>
          <a:solidFill>
            <a:srgbClr val="1F4E48"/>
          </a:solidFill>
          <a:ln w="12700">
            <a:solidFill>
              <a:srgbClr val="1F4E4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035040" y="1325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judgement is 10–20%.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219456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is document work: extracting, cross-checking, summarising, following up. That is exactly what language models now do reliably on 200-page reports, and what a rules engine never could.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3749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Copper = where a human must stay.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526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estimate from ~25 completed loans and a 15–23 case pipeline; to be measured with design partners.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Verdigris — confidential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4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loan book. Two operating models.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3840480" cy="2743200"/>
          </a:xfrm>
          <a:prstGeom prst="roundRect">
            <a:avLst>
              <a:gd name="adj" fmla="val 2667"/>
            </a:avLst>
          </a:prstGeom>
          <a:solidFill>
            <a:srgbClr val="2A5F58"/>
          </a:solidFill>
          <a:ln w="12700">
            <a:solidFill>
              <a:srgbClr val="2A5F5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0" y="1645920"/>
            <a:ext cx="3840480" cy="2743200"/>
          </a:xfrm>
          <a:prstGeom prst="roundRect">
            <a:avLst>
              <a:gd name="adj" fmla="val 2667"/>
            </a:avLst>
          </a:prstGeom>
          <a:solidFill>
            <a:srgbClr val="2E8B7A"/>
          </a:solidFill>
          <a:ln w="12700">
            <a:solidFill>
              <a:srgbClr val="2E8B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Traditional lender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read, reconcile, chase and draft.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£4m of book needs another employee.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cost ≈ 2.8% of what is lent each year.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by hiring.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98348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AI-native lender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2240280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read, reconcile, chase and draft. People decide.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£19m of book needs another employee.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cost ≈ 0.7% of what is lent each year.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by compute.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from the Verdigris economics model — a £150m book, 181 loans a year, identical pricing and funding on both sides.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worked example: 'Northgate Bridging', a composite £150m lender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7899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Fictional but built from real numbers: 37 staff at 2025–26 London salaries, market pricing, institutional funding at 95% advance.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822960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005840"/>
                <a:gridCol w="38404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 per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Northgate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interest income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£16.2m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£150m book × 0.90%/month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cost of funds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(£12.5m)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 partner-funded at 8.75% pa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Fees retained (arrangement, admin, drawdown, redemption)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£1.9m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 fee mostly paid away to introducers; ~£3k of fees per loan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partner fees and expected losses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(£0.8m)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£500 per deal; 0.5% of book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£4.8m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3.3% of book — what has to pay for the business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People, fully loaded (37 FTE)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(£3.6m)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Salaries + 15% NI + pension + on-costs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Office, software, data searches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(£0.5m)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£9.6k per desk; £50 of searches per case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profit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£0.7m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 margin. £22,900 to originate each loan.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343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 deal in a lender's own calculator returns 4.6% gross margin on facility over 18 months. Almost all of it goes on the people who process the file.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Verdigris — confidential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£150m book, run AI-native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49377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60720" y="11430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B87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4.1×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18562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operating cost for the same loans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24231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£5,600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313639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originate each loan, versus £22,900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7033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79%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441655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margin, versus 14%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Verdigris — confidential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Traditional lenders scale by hiring. Verdigris scales by compute.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40233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663440" y="1188720"/>
          <a:ext cx="40233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£600m of book the gap is 116 people and £11m of profit a year. The AI-native model adds one underwriter per £75m and one BDM per £150m; everything else is compute.</a:t>
            </a:r>
            <a:endParaRPr lang="en-US" sz="105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Verdigris — confidential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product: one deal in, a credible credit pack out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25880" cy="1874520"/>
          </a:xfrm>
          <a:prstGeom prst="roundRect">
            <a:avLst>
              <a:gd name="adj" fmla="val 5517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1298448"/>
            <a:ext cx="384048" cy="384048"/>
          </a:xfrm>
          <a:prstGeom prst="ellipse">
            <a:avLst/>
          </a:prstGeom>
          <a:solidFill>
            <a:srgbClr val="2E8B7A"/>
          </a:solidFill>
          <a:ln w="12700">
            <a:solidFill>
              <a:srgbClr val="2E8B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37360"/>
            <a:ext cx="1106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57400"/>
            <a:ext cx="1106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Application, valuation, surveyor report, title, ID, bank statements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837944" y="1188720"/>
            <a:ext cx="1325880" cy="1874520"/>
          </a:xfrm>
          <a:prstGeom prst="roundRect">
            <a:avLst>
              <a:gd name="adj" fmla="val 5517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7672" y="1298448"/>
            <a:ext cx="384048" cy="384048"/>
          </a:xfrm>
          <a:prstGeom prst="ellipse">
            <a:avLst/>
          </a:prstGeom>
          <a:solidFill>
            <a:srgbClr val="2E8B7A"/>
          </a:solidFill>
          <a:ln w="12700">
            <a:solidFill>
              <a:srgbClr val="2E8B7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47672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47672" y="1737360"/>
            <a:ext cx="1106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947672" y="2057400"/>
            <a:ext cx="1106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and claim, with its page reference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18688" y="1188720"/>
            <a:ext cx="1325880" cy="1874520"/>
          </a:xfrm>
          <a:prstGeom prst="roundRect">
            <a:avLst>
              <a:gd name="adj" fmla="val 5517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28416" y="1298448"/>
            <a:ext cx="384048" cy="384048"/>
          </a:xfrm>
          <a:prstGeom prst="ellipse">
            <a:avLst/>
          </a:prstGeom>
          <a:solidFill>
            <a:srgbClr val="2E8B7A"/>
          </a:solidFill>
          <a:ln w="12700">
            <a:solidFill>
              <a:srgbClr val="2E8B7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328416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328416" y="1737360"/>
            <a:ext cx="1106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Reconcile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328416" y="2057400"/>
            <a:ext cx="1106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Valuer vs surveyor vs borrower vs broker: where they disagree, and why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99432" y="1188720"/>
            <a:ext cx="1325880" cy="1874520"/>
          </a:xfrm>
          <a:prstGeom prst="roundRect">
            <a:avLst>
              <a:gd name="adj" fmla="val 5517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09160" y="1298448"/>
            <a:ext cx="384048" cy="384048"/>
          </a:xfrm>
          <a:prstGeom prst="ellipse">
            <a:avLst/>
          </a:prstGeom>
          <a:solidFill>
            <a:srgbClr val="2E8B7A"/>
          </a:solidFill>
          <a:ln w="12700">
            <a:solidFill>
              <a:srgbClr val="2E8B7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9160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709160" y="1737360"/>
            <a:ext cx="1106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Flag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709160" y="2057400"/>
            <a:ext cx="1106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comparables, optimistic cost plans, exits that don't stack up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0176" y="1188720"/>
            <a:ext cx="1325880" cy="1874520"/>
          </a:xfrm>
          <a:prstGeom prst="roundRect">
            <a:avLst>
              <a:gd name="adj" fmla="val 5517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89904" y="1298448"/>
            <a:ext cx="384048" cy="384048"/>
          </a:xfrm>
          <a:prstGeom prst="ellipse">
            <a:avLst/>
          </a:prstGeom>
          <a:solidFill>
            <a:srgbClr val="2E8B7A"/>
          </a:solidFill>
          <a:ln w="12700">
            <a:solidFill>
              <a:srgbClr val="2E8B7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89904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089904" y="1737360"/>
            <a:ext cx="1106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089904" y="2057400"/>
            <a:ext cx="1106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paper in the lender's own format: metrics, SWOT, risks, mitigants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360920" y="1188720"/>
            <a:ext cx="1325880" cy="1874520"/>
          </a:xfrm>
          <a:prstGeom prst="roundRect">
            <a:avLst>
              <a:gd name="adj" fmla="val 5517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70648" y="129844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70648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470648" y="1737360"/>
            <a:ext cx="1106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470648" y="2057400"/>
            <a:ext cx="1106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underwriter reviews, challenges and signs. Always.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3291840"/>
            <a:ext cx="4023360" cy="1325880"/>
          </a:xfrm>
          <a:prstGeom prst="roundRect">
            <a:avLst>
              <a:gd name="adj" fmla="val 5517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4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stays deterministic, never a model output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367588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LTV, LTGDV and LTC caps; eligibility gates; rate cards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calculation in the term sheet and the pricing approval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approve what: credit manager, senior, committee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63440" y="3291840"/>
            <a:ext cx="4023360" cy="1325880"/>
          </a:xfrm>
          <a:prstGeom prst="roundRect">
            <a:avLst>
              <a:gd name="adj" fmla="val 5517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84632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4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 is for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846320" y="367588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200 pages in minutes and citing where each fact came from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Spotting the inconsistency a tired analyst misses on case 19 of 23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so the underwriter starts from a full pack, not a blank page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Verdigris — confidential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25880"/>
            <a:ext cx="384048" cy="384048"/>
          </a:xfrm>
          <a:prstGeom prst="ellipse">
            <a:avLst/>
          </a:prstGeom>
          <a:solidFill>
            <a:srgbClr val="2E8B7A"/>
          </a:solidFill>
          <a:ln w="12700">
            <a:solidFill>
              <a:srgbClr val="2E8B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105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can read the documents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22860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models now handle long valuation and monitoring reports with page-level citations. Two years ago they could not be trusted with a Red Book report. The cost is about £2 per case at list price.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114300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325880"/>
            <a:ext cx="384048" cy="384048"/>
          </a:xfrm>
          <a:prstGeom prst="ellipse">
            <a:avLst/>
          </a:prstGeom>
          <a:solidFill>
            <a:srgbClr val="2E8B7A"/>
          </a:solidFill>
          <a:ln w="12700">
            <a:solidFill>
              <a:srgbClr val="2E8B7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8105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is on tap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377440"/>
            <a:ext cx="22860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Registry, Companies House, Open Banking, AVMs and KYC providers all have APIs. The inputs an underwriter used to request by email can be pulled in seconds.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14300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325880"/>
            <a:ext cx="384048" cy="384048"/>
          </a:xfrm>
          <a:prstGeom prst="ellipse">
            <a:avLst/>
          </a:prstGeom>
          <a:solidFill>
            <a:srgbClr val="2E8B7A"/>
          </a:solidFill>
          <a:ln w="12700">
            <a:solidFill>
              <a:srgbClr val="2E8B7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18105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Lender margins are under pressure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377440"/>
            <a:ext cx="22860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bridging rates fell from 0.88% to 0.81% a month; member loan books are down 16% from the 2025 peak. A 14% operating margin does not survive that. Cost is the only lever left.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Bridging Trends 2024–Q2 2026; BDLA quarterly data Q3 2025–Q1 2026; Anthropic list pricing June 2026.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Verdigris — confidential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and wedge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£11.5bn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1051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bridging loan books (BDLA members, Q1 2026)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651760" y="10972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£8–10bn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181051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bridging completions a year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0972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~100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81051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lenders, most with 15–60 staff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0972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040880" y="181051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lenders name brokers as their primary channel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606040"/>
            <a:ext cx="4023360" cy="2011680"/>
          </a:xfrm>
          <a:prstGeom prst="roundRect">
            <a:avLst>
              <a:gd name="adj" fmla="val 3636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4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Wedge: sell the engine before lending with it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0175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Per-case pricing to small and mid-size lenders at £250, against ~£600 of in-house cost per assessed case.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~65,000 cases assessed a year across the market (17,000 loans × 4 cases each): a £16m annual pool at that price, and a direct line into every lender's credit team.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partners give the training data and the credibility to originate.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2606040"/>
            <a:ext cx="4023360" cy="2011680"/>
          </a:xfrm>
          <a:prstGeom prst="roundRect">
            <a:avLst>
              <a:gd name="adj" fmla="val 3636"/>
            </a:avLst>
          </a:prstGeom>
          <a:solidFill>
            <a:srgbClr val="1F4E48"/>
          </a:solidFill>
          <a:ln w="12700">
            <a:solidFill>
              <a:srgbClr val="1F4E4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originate on the AI-native cost base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30175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partners already lend 95% of each loan at 8.25–9.75%; the lender puts in 5% first-loss. The funding model exists — the cost base is the innovation.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£150m book on the Verdigris cost base makes £3.8m a year, not £0.7m.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£50m book in year 2, £150m in year 3, funded deal-by-deal then on a facility.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Verdigris — confidential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to the first loan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2651760" cy="3246120"/>
          </a:xfrm>
          <a:prstGeom prst="roundRect">
            <a:avLst>
              <a:gd name="adj" fmla="val 2759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618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→ Dec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the engine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demo: one deal in, credit pack out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lender design partners on real, closed cases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hours saved and errors caught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advance assurance; tech company structured separately from any lending entity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46120" y="1143000"/>
            <a:ext cx="2651760" cy="3246120"/>
          </a:xfrm>
          <a:prstGeom prst="roundRect">
            <a:avLst>
              <a:gd name="adj" fmla="val 2759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2618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2027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554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it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0116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Per-case pricing live with 3–5 lenders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submissions handled end to end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and audit trail designed in: every decision reconstructable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Angel round under SEIS; technical co-founder in place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1143000"/>
            <a:ext cx="2651760" cy="3246120"/>
          </a:xfrm>
          <a:prstGeom prst="roundRect">
            <a:avLst>
              <a:gd name="adj" fmla="val 2759"/>
            </a:avLst>
          </a:prstGeom>
          <a:solidFill>
            <a:srgbClr val="1F4E48"/>
          </a:solidFill>
          <a:ln w="12700">
            <a:solidFill>
              <a:srgbClr val="1F4E4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12618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2027 →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554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Lend with it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0116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loans on a partner funding line, deal by deal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underwriters decide; the engine does the rest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£50m book target by end of year 2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funding once track record exists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note: consumer bridging is FCA-regulated; the initial focus is unregulated commercial and investment lending. Counsel engaged before loan one.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Verdigris — confidential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4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FB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Lisa Huang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4023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analyst at a London specialist lender: ~25 bridging and development loans completed in a year, 15–23 live cases at a time, completions in 15–28 days.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years managing a ~£400m commercial portfolio in Shanghai; supported a £300m industrial park sale.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markets and advisory at Cushman &amp; Wakefield and CBRE.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Real Estate Finance, Distinction (Henley). Builds with Cursor and Claude Code.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937760" y="548640"/>
            <a:ext cx="3657600" cy="4023360"/>
          </a:xfrm>
          <a:prstGeom prst="roundRect">
            <a:avLst>
              <a:gd name="adj" fmla="val 2000"/>
            </a:avLst>
          </a:prstGeom>
          <a:solidFill>
            <a:srgbClr val="2E8B7A"/>
          </a:solidFill>
          <a:ln w="12700">
            <a:solidFill>
              <a:srgbClr val="2E8B7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166360" y="685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166360" y="118872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technical co-founder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turn a working underwriting demo into a product a regulated lender will trust.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Antler's £210k buys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months of two founders full-time, v1 of the engine, three design partners on live cases, and SEIS advance assurance in hand for the angel round.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domain founder who has done the job by hand, a market where cost is the only lever left, and a model that makes £3.8m where the incumbent makes £0.7m.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480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lisawongcn@gmail.com  ·  linkedin.com/in/lisa-h-53139529a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Appendix: model assumptions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737360"/>
                <a:gridCol w="38404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Loan book / blended loan / term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£150m / £830k / 12 mo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Founder: bridging £500–800k (institutional partner), development £1–1.5m (bank partner), 30% dev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Loans completed / cases assessed per year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 / 724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 in 4 assessed cases completes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Borrower rate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 per month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Lender calculator 0.95%; market average 0.81–0.84%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funds / partner share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8.75% pa / 95%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Lender rate card: 8.25–9.75% at 95% advance; 5% first loss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Arrangement fee charged / retained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 / 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Introducer share paid away; £3k of admin and redemption fees per loan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credit loss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0.5% of book pa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Prudent; comparator reports zero capital losses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Salaries and on-costs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London 2025–26 bands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Founder: analysts under £55k; other roles from job ads and guides; NI 15%, pension 5%, 8% other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cost per case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£16 + £50 data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~320k tokens ≈ $2, ×10 safety factor; Land Registry, KYC, AVM, credit searches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Underwriter hours per case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/ 1.5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Traditional / AI-native. Founder estimate; to be measured with design partners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model with sources: Verdigris_Economics_Model.xlsx. 'Northgate Bridging' is a fictional composite; no figure is a claim about a specific company.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Verdigris — confidential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Verdigris</dc:title>
  <dc:subject>PptxGenJS Presentation</dc:subject>
  <dc:creator>Lisa Huang</dc:creator>
  <cp:lastModifiedBy>Lisa Huang</cp:lastModifiedBy>
  <cp:revision>1</cp:revision>
  <dcterms:created xsi:type="dcterms:W3CDTF">2026-09-09T12:36:20Z</dcterms:created>
  <dcterms:modified xsi:type="dcterms:W3CDTF">2026-09-09T12:36:20Z</dcterms:modified>
</cp:coreProperties>
</file>